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1"/>
  </p:notesMasterIdLst>
  <p:sldIdLst>
    <p:sldId id="259" r:id="rId2"/>
    <p:sldId id="260" r:id="rId3"/>
    <p:sldId id="262" r:id="rId4"/>
    <p:sldId id="261" r:id="rId5"/>
    <p:sldId id="263" r:id="rId6"/>
    <p:sldId id="264" r:id="rId7"/>
    <p:sldId id="270" r:id="rId8"/>
    <p:sldId id="271" r:id="rId9"/>
    <p:sldId id="272" r:id="rId10"/>
    <p:sldId id="273" r:id="rId11"/>
    <p:sldId id="266" r:id="rId12"/>
    <p:sldId id="276" r:id="rId13"/>
    <p:sldId id="280" r:id="rId14"/>
    <p:sldId id="274" r:id="rId15"/>
    <p:sldId id="267" r:id="rId16"/>
    <p:sldId id="277" r:id="rId17"/>
    <p:sldId id="258" r:id="rId18"/>
    <p:sldId id="281" r:id="rId19"/>
    <p:sldId id="28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 autoAdjust="0"/>
    <p:restoredTop sz="87398" autoAdjust="0"/>
  </p:normalViewPr>
  <p:slideViewPr>
    <p:cSldViewPr snapToGrid="0" showGuides="1">
      <p:cViewPr varScale="1">
        <p:scale>
          <a:sx n="93" d="100"/>
          <a:sy n="93" d="100"/>
        </p:scale>
        <p:origin x="62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15EA9-53E9-4322-AF8C-250CEFF88363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8D507-1324-4BD3-9256-1C48486EC9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9623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Gravity inversion is non-unique, so the recovered geology depends strongly on regularization and weighting choices.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8D507-1324-4BD3-9256-1C48486EC998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79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8D507-1324-4BD3-9256-1C48486EC998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004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8D507-1324-4BD3-9256-1C48486EC99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787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8D507-1324-4BD3-9256-1C48486EC998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9322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8D507-1324-4BD3-9256-1C48486EC998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8687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5CB0-BB67-4E3B-6678-5503E583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CB7F1-3B87-3594-5B16-DBB8F8811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A03AE-4BB5-E6AC-075B-4E5408429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0D4AA-45F6-54FD-BB9D-ED3B17B01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8D507-1324-4BD3-9256-1C48486EC998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4778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389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961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786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915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3102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321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112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988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90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043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53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DEE04-D9F6-4898-AE85-C64443272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72D144-E93A-4E60-9B35-C1DF095F2C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824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E414-123E-4582-E238-1DE9CCFE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1" dirty="0"/>
              <a:t>3D Gravity Inversion of a Synthetic Geological Model in </a:t>
            </a:r>
            <a:r>
              <a:rPr lang="en-US" sz="4800" b="1" dirty="0" err="1"/>
              <a:t>SimPEG</a:t>
            </a:r>
            <a:endParaRPr lang="en-CA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D59B3-029E-81E7-272C-9D170748A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1800" dirty="0"/>
              <a:t>How do inversion method and weighting strategy affect recovery of subsurface density structure?</a:t>
            </a:r>
          </a:p>
          <a:p>
            <a:endParaRPr lang="en-US" sz="1800" dirty="0"/>
          </a:p>
          <a:p>
            <a:r>
              <a:rPr lang="en-US" sz="1600" dirty="0" err="1"/>
              <a:t>Fengzhu</a:t>
            </a:r>
            <a:r>
              <a:rPr lang="en-US" sz="1600" dirty="0"/>
              <a:t> Wu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21053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3497-9F63-244A-F99A-281788D42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121" y="1354413"/>
            <a:ext cx="11601879" cy="3163362"/>
          </a:xfrm>
        </p:spPr>
        <p:txBody>
          <a:bodyPr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Gravity data provide only an indirect constraint on subsurface density.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Because gravity inversion is non-unique, inversion choices can strongly affect the recovered geometry.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 synthetic test allows direct comparison between recovered models and the known true model.</a:t>
            </a:r>
            <a:endParaRPr lang="en-CA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F2C058-033D-8EBF-76F5-9034C414B2B9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4856305" cy="486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/>
              <a:t>Why this problem matters?</a:t>
            </a:r>
          </a:p>
        </p:txBody>
      </p:sp>
    </p:spTree>
    <p:extLst>
      <p:ext uri="{BB962C8B-B14F-4D97-AF65-F5344CB8AC3E}">
        <p14:creationId xmlns:p14="http://schemas.microsoft.com/office/powerpoint/2010/main" val="323053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A971B-537D-A5AA-8C32-28C75FA2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7FFF-C261-A954-6623-3BCF690F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Physical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3C4A-9D59-CF72-9E55-D4518B015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281"/>
            <a:ext cx="10515600" cy="8311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400" dirty="0"/>
              <a:t>Synthetic density model: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endParaRPr lang="en-C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F4B23-B813-B8D0-6000-2BA26E981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4" y="3194045"/>
            <a:ext cx="5842438" cy="3505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A9B075-A306-EB35-C89D-095EAD211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22" y="5387286"/>
            <a:ext cx="5781764" cy="13053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377224-1858-D98F-9611-08C31D5FDEA0}"/>
                  </a:ext>
                </a:extLst>
              </p:cNvPr>
              <p:cNvSpPr txBox="1"/>
              <p:nvPr/>
            </p:nvSpPr>
            <p:spPr>
              <a:xfrm>
                <a:off x="5013433" y="1077094"/>
                <a:ext cx="644544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Background density contrast: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lit/>
                      </m:rPr>
                      <a:rPr lang="en-US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𝑐𝑐</m:t>
                    </m:r>
                  </m:oMath>
                </a14:m>
                <a:endParaRPr lang="en-CA" b="0" dirty="0"/>
              </a:p>
              <a:p>
                <a:r>
                  <a:rPr lang="en-US" dirty="0"/>
                  <a:t>PK body: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−0.8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cc</m:t>
                    </m:r>
                  </m:oMath>
                </a14:m>
                <a:endParaRPr lang="en-CA" b="0" dirty="0"/>
              </a:p>
              <a:p>
                <a:r>
                  <a:rPr lang="en-US" dirty="0"/>
                  <a:t>VK body: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−0.2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cc</m:t>
                    </m:r>
                  </m:oMath>
                </a14:m>
                <a:endParaRPr lang="en-CA" b="0" dirty="0"/>
              </a:p>
              <a:p>
                <a:endParaRPr lang="en-CA" b="0" dirty="0"/>
              </a:p>
              <a:p>
                <a:r>
                  <a:rPr lang="en-US" dirty="0"/>
                  <a:t>two anomalous bodies embedded in zero-density background</a:t>
                </a:r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377224-1858-D98F-9611-08C31D5FD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433" y="1077094"/>
                <a:ext cx="6445448" cy="1477328"/>
              </a:xfrm>
              <a:prstGeom prst="rect">
                <a:avLst/>
              </a:prstGeom>
              <a:blipFill>
                <a:blip r:embed="rId4"/>
                <a:stretch>
                  <a:fillRect l="-756" t="-2066" b="-619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73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693E4D0-5578-5C28-BCB5-730F2245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61909"/>
            <a:ext cx="3579315" cy="3661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8D7FCA-316C-66F1-600C-174BE243A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406" y="1056412"/>
            <a:ext cx="4239537" cy="3667200"/>
          </a:xfrm>
          <a:prstGeom prst="rect">
            <a:avLst/>
          </a:prstGeom>
        </p:spPr>
      </p:pic>
      <p:sp>
        <p:nvSpPr>
          <p:cNvPr id="274" name="TextBox 273">
            <a:extLst>
              <a:ext uri="{FF2B5EF4-FFF2-40B4-BE49-F238E27FC236}">
                <a16:creationId xmlns:a16="http://schemas.microsoft.com/office/drawing/2014/main" id="{E39FC8F2-C855-8BCB-D6EE-5A94D92CD3C4}"/>
              </a:ext>
            </a:extLst>
          </p:cNvPr>
          <p:cNvSpPr txBox="1"/>
          <p:nvPr/>
        </p:nvSpPr>
        <p:spPr>
          <a:xfrm>
            <a:off x="1347786" y="5187224"/>
            <a:ext cx="9496427" cy="13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Gravity observations are calculated over the synthetic model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These data are then inverted to recover subsurface density contrast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synthetic setup allows direct model-to-truth comparison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677CAF-BA48-C66F-B890-B88C17498CCB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4856305" cy="486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Survey + Data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383080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B07D42-AE1B-180E-D114-49F68D9FAD2E}"/>
              </a:ext>
            </a:extLst>
          </p:cNvPr>
          <p:cNvSpPr txBox="1"/>
          <p:nvPr/>
        </p:nvSpPr>
        <p:spPr>
          <a:xfrm>
            <a:off x="1264461" y="5338247"/>
            <a:ext cx="10450859" cy="65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Iteratively Re-weighted Least-Squares (IRLS) is used to approximate sparse-norm inversion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3D6F47-49BF-06F4-6BFA-BF634C8FAE6D}"/>
              </a:ext>
            </a:extLst>
          </p:cNvPr>
          <p:cNvGrpSpPr/>
          <p:nvPr/>
        </p:nvGrpSpPr>
        <p:grpSpPr>
          <a:xfrm>
            <a:off x="1264461" y="1691296"/>
            <a:ext cx="6456375" cy="2832105"/>
            <a:chOff x="1986454" y="2562120"/>
            <a:chExt cx="5858466" cy="233856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23C58B5-9B18-EAB2-075A-E496B92837FF}"/>
                </a:ext>
              </a:extLst>
            </p:cNvPr>
            <p:cNvSpPr/>
            <p:nvPr/>
          </p:nvSpPr>
          <p:spPr>
            <a:xfrm>
              <a:off x="1986454" y="25621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defTabSz="61487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Least-square L2 </a:t>
              </a:r>
              <a:endParaRPr lang="en-CA" sz="2400" kern="120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289159-8F77-6B29-BE9D-50ADF1FC9606}"/>
                </a:ext>
              </a:extLst>
            </p:cNvPr>
            <p:cNvSpPr/>
            <p:nvPr/>
          </p:nvSpPr>
          <p:spPr>
            <a:xfrm>
              <a:off x="1986454" y="31669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defTabSz="61487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Sparse-norm baseline (IRLS)</a:t>
              </a:r>
              <a:endParaRPr lang="en-CA" sz="2400" kern="120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08E11C-7790-2CB2-9FB0-F0820C12E074}"/>
                </a:ext>
              </a:extLst>
            </p:cNvPr>
            <p:cNvSpPr/>
            <p:nvPr/>
          </p:nvSpPr>
          <p:spPr>
            <a:xfrm>
              <a:off x="1986454" y="37717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defTabSz="61487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Sparse-norm + depth-weighting (IRLS) </a:t>
              </a:r>
              <a:endParaRPr lang="en-CA" sz="2400" kern="120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F8BEB0B-5689-0189-F1BA-6F6563746C0A}"/>
                </a:ext>
              </a:extLst>
            </p:cNvPr>
            <p:cNvSpPr/>
            <p:nvPr/>
          </p:nvSpPr>
          <p:spPr>
            <a:xfrm>
              <a:off x="1986454" y="4376520"/>
              <a:ext cx="5858466" cy="524160"/>
            </a:xfrm>
            <a:custGeom>
              <a:avLst/>
              <a:gdLst>
                <a:gd name="csX0" fmla="*/ 0 w 5858466"/>
                <a:gd name="csY0" fmla="*/ 87362 h 524160"/>
                <a:gd name="csX1" fmla="*/ 87362 w 5858466"/>
                <a:gd name="csY1" fmla="*/ 0 h 524160"/>
                <a:gd name="csX2" fmla="*/ 5771104 w 5858466"/>
                <a:gd name="csY2" fmla="*/ 0 h 524160"/>
                <a:gd name="csX3" fmla="*/ 5858466 w 5858466"/>
                <a:gd name="csY3" fmla="*/ 87362 h 524160"/>
                <a:gd name="csX4" fmla="*/ 5858466 w 5858466"/>
                <a:gd name="csY4" fmla="*/ 436798 h 524160"/>
                <a:gd name="csX5" fmla="*/ 5771104 w 5858466"/>
                <a:gd name="csY5" fmla="*/ 524160 h 524160"/>
                <a:gd name="csX6" fmla="*/ 87362 w 5858466"/>
                <a:gd name="csY6" fmla="*/ 524160 h 524160"/>
                <a:gd name="csX7" fmla="*/ 0 w 5858466"/>
                <a:gd name="csY7" fmla="*/ 436798 h 524160"/>
                <a:gd name="csX8" fmla="*/ 0 w 5858466"/>
                <a:gd name="csY8" fmla="*/ 87362 h 5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58466" h="524160">
                  <a:moveTo>
                    <a:pt x="0" y="87362"/>
                  </a:moveTo>
                  <a:cubicBezTo>
                    <a:pt x="0" y="39113"/>
                    <a:pt x="39113" y="0"/>
                    <a:pt x="87362" y="0"/>
                  </a:cubicBezTo>
                  <a:lnTo>
                    <a:pt x="5771104" y="0"/>
                  </a:lnTo>
                  <a:cubicBezTo>
                    <a:pt x="5819353" y="0"/>
                    <a:pt x="5858466" y="39113"/>
                    <a:pt x="5858466" y="87362"/>
                  </a:cubicBezTo>
                  <a:lnTo>
                    <a:pt x="5858466" y="436798"/>
                  </a:lnTo>
                  <a:cubicBezTo>
                    <a:pt x="5858466" y="485047"/>
                    <a:pt x="5819353" y="524160"/>
                    <a:pt x="5771104" y="524160"/>
                  </a:cubicBezTo>
                  <a:lnTo>
                    <a:pt x="87362" y="524160"/>
                  </a:lnTo>
                  <a:cubicBezTo>
                    <a:pt x="39113" y="524160"/>
                    <a:pt x="0" y="485047"/>
                    <a:pt x="0" y="436798"/>
                  </a:cubicBezTo>
                  <a:lnTo>
                    <a:pt x="0" y="87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167" tIns="94167" rIns="94167" bIns="94167" numCol="1" spcCol="1270" anchor="ctr" anchorCtr="0">
              <a:noAutofit/>
            </a:bodyPr>
            <a:lstStyle/>
            <a:p>
              <a:pPr defTabSz="61487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Sparse-norm + sensitivity-weighting  (IRLS) </a:t>
              </a:r>
              <a:endParaRPr lang="en-CA" sz="2400" kern="1200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DA710DF-BC09-FE63-81B9-E21C810D53AC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4856305" cy="486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Inversion</a:t>
            </a:r>
            <a:endParaRPr lang="en-CA" sz="320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64F6A06-A5AF-E955-4C13-2970730B693E}"/>
              </a:ext>
            </a:extLst>
          </p:cNvPr>
          <p:cNvSpPr/>
          <p:nvPr/>
        </p:nvSpPr>
        <p:spPr>
          <a:xfrm>
            <a:off x="7878965" y="2008687"/>
            <a:ext cx="199381" cy="85826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1E9653E-BFAA-F2E8-4296-F502B88F61D3}"/>
              </a:ext>
            </a:extLst>
          </p:cNvPr>
          <p:cNvSpPr/>
          <p:nvPr/>
        </p:nvSpPr>
        <p:spPr>
          <a:xfrm>
            <a:off x="7878965" y="3429000"/>
            <a:ext cx="199381" cy="85826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63D10-997B-E099-D8BE-D5208FFCE5CD}"/>
              </a:ext>
            </a:extLst>
          </p:cNvPr>
          <p:cNvSpPr txBox="1"/>
          <p:nvPr/>
        </p:nvSpPr>
        <p:spPr>
          <a:xfrm>
            <a:off x="8236475" y="2253154"/>
            <a:ext cx="204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Inversion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3DE66-B4E2-20A0-DA95-8C52F3314773}"/>
              </a:ext>
            </a:extLst>
          </p:cNvPr>
          <p:cNvSpPr txBox="1"/>
          <p:nvPr/>
        </p:nvSpPr>
        <p:spPr>
          <a:xfrm>
            <a:off x="8236474" y="3673467"/>
            <a:ext cx="2495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Weighting strategies</a:t>
            </a:r>
          </a:p>
        </p:txBody>
      </p:sp>
    </p:spTree>
    <p:extLst>
      <p:ext uri="{BB962C8B-B14F-4D97-AF65-F5344CB8AC3E}">
        <p14:creationId xmlns:p14="http://schemas.microsoft.com/office/powerpoint/2010/main" val="64504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E39BF4-289E-8B64-B39B-93365361E972}"/>
              </a:ext>
            </a:extLst>
          </p:cNvPr>
          <p:cNvGrpSpPr/>
          <p:nvPr/>
        </p:nvGrpSpPr>
        <p:grpSpPr>
          <a:xfrm>
            <a:off x="745185" y="984971"/>
            <a:ext cx="5858466" cy="524160"/>
            <a:chOff x="0" y="34385"/>
            <a:chExt cx="5858466" cy="52416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78FCB29-7DB4-5093-D04F-BE243D71ED30}"/>
                </a:ext>
              </a:extLst>
            </p:cNvPr>
            <p:cNvSpPr/>
            <p:nvPr/>
          </p:nvSpPr>
          <p:spPr>
            <a:xfrm>
              <a:off x="0" y="34385"/>
              <a:ext cx="5858466" cy="5241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78BD8B73-862C-C1C5-AFA1-1030C1971D28}"/>
                </a:ext>
              </a:extLst>
            </p:cNvPr>
            <p:cNvSpPr txBox="1"/>
            <p:nvPr/>
          </p:nvSpPr>
          <p:spPr>
            <a:xfrm>
              <a:off x="25587" y="59972"/>
              <a:ext cx="5807292" cy="4729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/>
                <a:t>Least-square L2</a:t>
              </a:r>
              <a:endParaRPr lang="en-CA" sz="1800" kern="1200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0D750554-E176-6369-8709-7271450D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/>
              <a:t>L2 Inversion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DEDE3-2EFC-D761-06A6-34D929B06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5" y="2229254"/>
            <a:ext cx="7085338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4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BFDC78B-79B7-43DC-0580-070AA8AF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Sparse-norm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111FC2-A7DB-2F33-CB3A-E3F32046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914" y="2044519"/>
            <a:ext cx="7279272" cy="10610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78C8E1-C569-FB1A-4158-E817239E7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20" y="1063358"/>
            <a:ext cx="3834262" cy="7668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A1664D3-6412-C1FE-09CD-460D9AB44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651" y="4867055"/>
            <a:ext cx="7330434" cy="111649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B64CAC2-3E03-F2A8-2B3C-57C232971A2B}"/>
              </a:ext>
            </a:extLst>
          </p:cNvPr>
          <p:cNvSpPr txBox="1"/>
          <p:nvPr/>
        </p:nvSpPr>
        <p:spPr>
          <a:xfrm>
            <a:off x="1348064" y="2374973"/>
            <a:ext cx="2268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chemeClr val="accent1">
                    <a:lumMod val="75000"/>
                  </a:schemeClr>
                </a:solidFill>
              </a:rPr>
              <a:t>L2 regularization: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7DB6C9-EE4E-48DE-E5B4-FCF96B604988}"/>
              </a:ext>
            </a:extLst>
          </p:cNvPr>
          <p:cNvSpPr txBox="1"/>
          <p:nvPr/>
        </p:nvSpPr>
        <p:spPr>
          <a:xfrm>
            <a:off x="911369" y="3756244"/>
            <a:ext cx="2639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chemeClr val="accent1">
                    <a:lumMod val="75000"/>
                  </a:schemeClr>
                </a:solidFill>
              </a:rPr>
              <a:t>Sparse regularization: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052A0-A39C-E0A1-E9D6-7A35693D0CE3}"/>
              </a:ext>
            </a:extLst>
          </p:cNvPr>
          <p:cNvSpPr/>
          <p:nvPr/>
        </p:nvSpPr>
        <p:spPr>
          <a:xfrm>
            <a:off x="3829319" y="1233076"/>
            <a:ext cx="921544" cy="457200"/>
          </a:xfrm>
          <a:custGeom>
            <a:avLst/>
            <a:gdLst>
              <a:gd name="csX0" fmla="*/ 0 w 921544"/>
              <a:gd name="csY0" fmla="*/ 0 h 457200"/>
              <a:gd name="csX1" fmla="*/ 451557 w 921544"/>
              <a:gd name="csY1" fmla="*/ 0 h 457200"/>
              <a:gd name="csX2" fmla="*/ 921544 w 921544"/>
              <a:gd name="csY2" fmla="*/ 0 h 457200"/>
              <a:gd name="csX3" fmla="*/ 921544 w 921544"/>
              <a:gd name="csY3" fmla="*/ 457200 h 457200"/>
              <a:gd name="csX4" fmla="*/ 451557 w 921544"/>
              <a:gd name="csY4" fmla="*/ 457200 h 457200"/>
              <a:gd name="csX5" fmla="*/ 0 w 921544"/>
              <a:gd name="csY5" fmla="*/ 457200 h 457200"/>
              <a:gd name="csX6" fmla="*/ 0 w 921544"/>
              <a:gd name="csY6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21544" h="457200" extrusionOk="0">
                <a:moveTo>
                  <a:pt x="0" y="0"/>
                </a:moveTo>
                <a:cubicBezTo>
                  <a:pt x="120791" y="-10591"/>
                  <a:pt x="261813" y="11214"/>
                  <a:pt x="451557" y="0"/>
                </a:cubicBezTo>
                <a:cubicBezTo>
                  <a:pt x="641301" y="-11214"/>
                  <a:pt x="714802" y="-1700"/>
                  <a:pt x="921544" y="0"/>
                </a:cubicBezTo>
                <a:cubicBezTo>
                  <a:pt x="917881" y="96716"/>
                  <a:pt x="936680" y="275957"/>
                  <a:pt x="921544" y="457200"/>
                </a:cubicBezTo>
                <a:cubicBezTo>
                  <a:pt x="753678" y="434192"/>
                  <a:pt x="678673" y="467506"/>
                  <a:pt x="451557" y="457200"/>
                </a:cubicBezTo>
                <a:cubicBezTo>
                  <a:pt x="224441" y="446894"/>
                  <a:pt x="164971" y="435899"/>
                  <a:pt x="0" y="457200"/>
                </a:cubicBezTo>
                <a:cubicBezTo>
                  <a:pt x="17160" y="266916"/>
                  <a:pt x="47" y="111599"/>
                  <a:pt x="0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59477529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28DD2-072B-E347-4FBE-102B2D3E7D76}"/>
              </a:ext>
            </a:extLst>
          </p:cNvPr>
          <p:cNvSpPr txBox="1"/>
          <p:nvPr/>
        </p:nvSpPr>
        <p:spPr>
          <a:xfrm>
            <a:off x="4574360" y="5950003"/>
            <a:ext cx="10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L2 norm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C6150-1182-D69E-D3EC-FFF28567810A}"/>
              </a:ext>
            </a:extLst>
          </p:cNvPr>
          <p:cNvSpPr txBox="1"/>
          <p:nvPr/>
        </p:nvSpPr>
        <p:spPr>
          <a:xfrm>
            <a:off x="6665484" y="5950003"/>
            <a:ext cx="10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L1 norm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5F8CF-2402-AEA2-254D-D2D77CB4BC4A}"/>
              </a:ext>
            </a:extLst>
          </p:cNvPr>
          <p:cNvSpPr txBox="1"/>
          <p:nvPr/>
        </p:nvSpPr>
        <p:spPr>
          <a:xfrm>
            <a:off x="9213036" y="5950003"/>
            <a:ext cx="1481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L0-style norm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88113-50E3-AAE8-5882-C6AD55A12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651" y="3501714"/>
            <a:ext cx="8174183" cy="90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1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A1C636C-5CF0-7FF3-0F97-8A75082B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6209805" cy="486178"/>
          </a:xfrm>
        </p:spPr>
        <p:txBody>
          <a:bodyPr>
            <a:noAutofit/>
          </a:bodyPr>
          <a:lstStyle/>
          <a:p>
            <a:r>
              <a:rPr lang="en-CA" sz="3200" dirty="0"/>
              <a:t>Sparse-norm </a:t>
            </a:r>
            <a:r>
              <a:rPr lang="en-CA" sz="2400" dirty="0"/>
              <a:t>(example)</a:t>
            </a:r>
            <a:endParaRPr lang="en-CA" sz="3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12A176-FDD1-C9EB-5F5A-B8C2303AD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78" y="1247929"/>
            <a:ext cx="5191850" cy="5620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FB98EA-E007-8335-926D-D8AED959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20" y="2176821"/>
            <a:ext cx="5734850" cy="7621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3CFE52-2F0B-F30F-15F4-3A8A29A6B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520" y="3293820"/>
            <a:ext cx="3448531" cy="6382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41A90C-8641-17C2-7923-48F3BEED3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520" y="4309869"/>
            <a:ext cx="3286584" cy="7240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03D95D-8C66-343D-A5B6-E59A3B2B7E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413"/>
          <a:stretch>
            <a:fillRect/>
          </a:stretch>
        </p:blipFill>
        <p:spPr>
          <a:xfrm>
            <a:off x="1549043" y="1976768"/>
            <a:ext cx="2105028" cy="11622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74F58AE-939A-79DF-A4F6-97316C7B89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267" t="17543" r="41014"/>
          <a:stretch>
            <a:fillRect/>
          </a:stretch>
        </p:blipFill>
        <p:spPr>
          <a:xfrm>
            <a:off x="1839029" y="3235738"/>
            <a:ext cx="1733550" cy="9583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9CFE3-534F-41A7-D71D-58E82D4C96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935" t="31516" b="18852"/>
          <a:stretch>
            <a:fillRect/>
          </a:stretch>
        </p:blipFill>
        <p:spPr>
          <a:xfrm>
            <a:off x="1798389" y="4457054"/>
            <a:ext cx="2523070" cy="576815"/>
          </a:xfrm>
          <a:prstGeom prst="rect">
            <a:avLst/>
          </a:prstGeom>
        </p:spPr>
      </p:pic>
      <p:pic>
        <p:nvPicPr>
          <p:cNvPr id="31" name="Graphic 30" descr="Checkmark outline">
            <a:extLst>
              <a:ext uri="{FF2B5EF4-FFF2-40B4-BE49-F238E27FC236}">
                <a16:creationId xmlns:a16="http://schemas.microsoft.com/office/drawing/2014/main" id="{B083B6DC-3019-0843-3E48-47600CEE4F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1286" y="2362112"/>
            <a:ext cx="576815" cy="576815"/>
          </a:xfrm>
          <a:prstGeom prst="rect">
            <a:avLst/>
          </a:prstGeom>
        </p:spPr>
      </p:pic>
      <p:pic>
        <p:nvPicPr>
          <p:cNvPr id="32" name="Graphic 31" descr="Checkmark outline">
            <a:extLst>
              <a:ext uri="{FF2B5EF4-FFF2-40B4-BE49-F238E27FC236}">
                <a16:creationId xmlns:a16="http://schemas.microsoft.com/office/drawing/2014/main" id="{F7E985D6-E087-87A7-9834-C99BA6531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3758" y="4457055"/>
            <a:ext cx="576815" cy="5768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AECC4C4-9420-B9A0-3DF7-B6F802FF4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0577" y="5500150"/>
            <a:ext cx="4774684" cy="31004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0F41ACE-EE62-A48D-F49B-8BFAC1153A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0576" y="5881203"/>
            <a:ext cx="3309724" cy="31004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AE1663E-0235-37B8-7A75-45585F8A65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8422" y="6309007"/>
            <a:ext cx="2852407" cy="2557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2ECB1A-FA2B-6FB3-B84A-946D245C262A}"/>
              </a:ext>
            </a:extLst>
          </p:cNvPr>
          <p:cNvSpPr txBox="1"/>
          <p:nvPr/>
        </p:nvSpPr>
        <p:spPr>
          <a:xfrm>
            <a:off x="806708" y="2407424"/>
            <a:ext cx="10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L2 norm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53378-B561-35BE-5864-9367D363BBA5}"/>
              </a:ext>
            </a:extLst>
          </p:cNvPr>
          <p:cNvSpPr txBox="1"/>
          <p:nvPr/>
        </p:nvSpPr>
        <p:spPr>
          <a:xfrm>
            <a:off x="849910" y="3457575"/>
            <a:ext cx="10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L1 norm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F558A-02FF-18FF-369B-DA183CBAB293}"/>
              </a:ext>
            </a:extLst>
          </p:cNvPr>
          <p:cNvSpPr txBox="1"/>
          <p:nvPr/>
        </p:nvSpPr>
        <p:spPr>
          <a:xfrm>
            <a:off x="375412" y="4530736"/>
            <a:ext cx="1481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L0-style norm</a:t>
            </a:r>
          </a:p>
        </p:txBody>
      </p:sp>
    </p:spTree>
    <p:extLst>
      <p:ext uri="{BB962C8B-B14F-4D97-AF65-F5344CB8AC3E}">
        <p14:creationId xmlns:p14="http://schemas.microsoft.com/office/powerpoint/2010/main" val="269746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781FD3D-0825-844F-C204-113E5C8E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6209805" cy="486178"/>
          </a:xfrm>
        </p:spPr>
        <p:txBody>
          <a:bodyPr>
            <a:noAutofit/>
          </a:bodyPr>
          <a:lstStyle/>
          <a:p>
            <a:r>
              <a:rPr lang="en-CA" sz="3200" dirty="0"/>
              <a:t>Sparse-norm </a:t>
            </a:r>
            <a:r>
              <a:rPr lang="en-CA" sz="2400" dirty="0"/>
              <a:t>(example)</a:t>
            </a:r>
            <a:endParaRPr lang="en-CA" sz="3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D4667E-3B73-A77D-3845-0546BE6F23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13"/>
          <a:stretch>
            <a:fillRect/>
          </a:stretch>
        </p:blipFill>
        <p:spPr>
          <a:xfrm>
            <a:off x="1013853" y="1212738"/>
            <a:ext cx="5662070" cy="5811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B396A-F03B-B57E-BDB6-741DBDE9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01"/>
          <a:stretch>
            <a:fillRect/>
          </a:stretch>
        </p:blipFill>
        <p:spPr>
          <a:xfrm>
            <a:off x="864961" y="2087684"/>
            <a:ext cx="6178994" cy="5334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80AF5C3-729B-ABD4-8903-01433EF24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212" y="3148845"/>
            <a:ext cx="5524931" cy="10998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5106F6-F79E-62E3-637E-368AB7E9E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346" y="4537553"/>
            <a:ext cx="3907053" cy="10532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1E5826F-05E2-3E60-F74A-205D39A90E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413"/>
          <a:stretch>
            <a:fillRect/>
          </a:stretch>
        </p:blipFill>
        <p:spPr>
          <a:xfrm>
            <a:off x="1349958" y="3117674"/>
            <a:ext cx="2105028" cy="11622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B70D5FE-38AA-0A60-C6C5-C8EB556EA7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267" r="41014"/>
          <a:stretch>
            <a:fillRect/>
          </a:stretch>
        </p:blipFill>
        <p:spPr>
          <a:xfrm>
            <a:off x="1670636" y="4483050"/>
            <a:ext cx="1733550" cy="11622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1B1909D-86C8-6E8F-A4E5-A7FA5C14B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821" y="6031502"/>
            <a:ext cx="4083746" cy="5985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B13DCE-E5B8-7F42-FF99-410875979B92}"/>
              </a:ext>
            </a:extLst>
          </p:cNvPr>
          <p:cNvSpPr txBox="1"/>
          <p:nvPr/>
        </p:nvSpPr>
        <p:spPr>
          <a:xfrm>
            <a:off x="713208" y="3534722"/>
            <a:ext cx="10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L2 norm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B4382-5689-C6F0-746B-D22A32CDDEBF}"/>
              </a:ext>
            </a:extLst>
          </p:cNvPr>
          <p:cNvSpPr txBox="1"/>
          <p:nvPr/>
        </p:nvSpPr>
        <p:spPr>
          <a:xfrm>
            <a:off x="713208" y="4889231"/>
            <a:ext cx="10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L1 norm</a:t>
            </a:r>
          </a:p>
        </p:txBody>
      </p:sp>
      <p:pic>
        <p:nvPicPr>
          <p:cNvPr id="4" name="Graphic 3" descr="Checkmark outline">
            <a:extLst>
              <a:ext uri="{FF2B5EF4-FFF2-40B4-BE49-F238E27FC236}">
                <a16:creationId xmlns:a16="http://schemas.microsoft.com/office/drawing/2014/main" id="{2C0F38A6-EA7C-3606-D2E8-599B44F40B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24390" y="3246314"/>
            <a:ext cx="576815" cy="57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1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3227A0-51AC-D733-655A-99A0E4AC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439" y="3622553"/>
            <a:ext cx="4458322" cy="333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23E446-F88B-B6B1-657B-F8E23C8B0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439" y="4419301"/>
            <a:ext cx="5315692" cy="32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58F58-9695-ECD3-1C25-BCE451288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26"/>
          <a:stretch>
            <a:fillRect/>
          </a:stretch>
        </p:blipFill>
        <p:spPr>
          <a:xfrm>
            <a:off x="3117523" y="1473022"/>
            <a:ext cx="8133348" cy="867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A978A2-2CF2-2930-84BA-06392CA110D7}"/>
              </a:ext>
            </a:extLst>
          </p:cNvPr>
          <p:cNvSpPr txBox="1"/>
          <p:nvPr/>
        </p:nvSpPr>
        <p:spPr>
          <a:xfrm>
            <a:off x="477978" y="1706929"/>
            <a:ext cx="2639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chemeClr val="accent1">
                    <a:lumMod val="75000"/>
                  </a:schemeClr>
                </a:solidFill>
              </a:rPr>
              <a:t>Sparse regularization: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8A732F5-5840-30AD-B92D-52D85C70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Sparse-norm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D94AAB-B797-C0A7-E5CE-7E86BB09A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934" y="3065198"/>
            <a:ext cx="3695227" cy="253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73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E5A8-6225-518B-9A21-DD5733F4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574077-A019-70C3-6D9A-A6033961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Sparse-norm Inversion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FCF704-C57D-6085-1477-F3A114045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92" y="2170460"/>
            <a:ext cx="6549645" cy="4093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9FD8B-E403-87D1-48F6-FC2AA33AF8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14" t="51571" r="36399"/>
          <a:stretch>
            <a:fillRect/>
          </a:stretch>
        </p:blipFill>
        <p:spPr>
          <a:xfrm>
            <a:off x="10012267" y="4217223"/>
            <a:ext cx="1898568" cy="19227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306E8B-01C3-57C7-2B5D-98B532D3E915}"/>
              </a:ext>
            </a:extLst>
          </p:cNvPr>
          <p:cNvGrpSpPr/>
          <p:nvPr/>
        </p:nvGrpSpPr>
        <p:grpSpPr>
          <a:xfrm>
            <a:off x="745185" y="984971"/>
            <a:ext cx="5858466" cy="524160"/>
            <a:chOff x="0" y="34385"/>
            <a:chExt cx="5858466" cy="52416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F6121F4-C6E5-D4B2-D6E1-DAB3D2488010}"/>
                </a:ext>
              </a:extLst>
            </p:cNvPr>
            <p:cNvSpPr/>
            <p:nvPr/>
          </p:nvSpPr>
          <p:spPr>
            <a:xfrm>
              <a:off x="0" y="34385"/>
              <a:ext cx="5858466" cy="5241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18AEB89-F598-3D13-3C71-440A1566AB93}"/>
                </a:ext>
              </a:extLst>
            </p:cNvPr>
            <p:cNvSpPr txBox="1"/>
            <p:nvPr/>
          </p:nvSpPr>
          <p:spPr>
            <a:xfrm>
              <a:off x="25587" y="59972"/>
              <a:ext cx="5807292" cy="4729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800" kern="1200" dirty="0"/>
                <a:t>Sparse-norm baseline (IRLS)</a:t>
              </a: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EA187DD-A89A-B3E2-487F-3D8544730491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4856305" cy="486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/>
              <a:t>Sparse-norm</a:t>
            </a:r>
            <a:endParaRPr lang="en-CA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E824C5-5159-1BBF-AEC3-F68C84361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931" y="4809780"/>
            <a:ext cx="3706165" cy="2771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BBB808-C084-7C23-130C-0C41FD7E0029}"/>
              </a:ext>
            </a:extLst>
          </p:cNvPr>
          <p:cNvSpPr txBox="1"/>
          <p:nvPr/>
        </p:nvSpPr>
        <p:spPr>
          <a:xfrm>
            <a:off x="6256699" y="5361307"/>
            <a:ext cx="2750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accent1"/>
                </a:solidFill>
              </a:rPr>
              <a:t>Fewer non-zero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accent1"/>
                </a:solidFill>
              </a:rPr>
              <a:t>More compact structure</a:t>
            </a:r>
          </a:p>
        </p:txBody>
      </p:sp>
    </p:spTree>
    <p:extLst>
      <p:ext uri="{BB962C8B-B14F-4D97-AF65-F5344CB8AC3E}">
        <p14:creationId xmlns:p14="http://schemas.microsoft.com/office/powerpoint/2010/main" val="2794695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1D8841-461E-49B0-5A7D-C16CD150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484" y="1639614"/>
            <a:ext cx="8773367" cy="48303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E556E7-E6B6-09D5-3CD4-AA5F07FBA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4856305" cy="486178"/>
          </a:xfrm>
        </p:spPr>
        <p:txBody>
          <a:bodyPr>
            <a:noAutofit/>
          </a:bodyPr>
          <a:lstStyle/>
          <a:p>
            <a:r>
              <a:rPr lang="en-CA" sz="3200" dirty="0"/>
              <a:t>Different norms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145558-6933-5B42-70FD-D74DD697B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290" y="194859"/>
            <a:ext cx="7990910" cy="888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BBF5B5-9A0B-103E-17D8-4BDF6A7E15A8}"/>
              </a:ext>
            </a:extLst>
          </p:cNvPr>
          <p:cNvSpPr txBox="1"/>
          <p:nvPr/>
        </p:nvSpPr>
        <p:spPr>
          <a:xfrm>
            <a:off x="5082185" y="2866954"/>
            <a:ext cx="1600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Less compact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7E1F0-BE3B-A1DD-B799-39A2288E972B}"/>
              </a:ext>
            </a:extLst>
          </p:cNvPr>
          <p:cNvSpPr txBox="1"/>
          <p:nvPr/>
        </p:nvSpPr>
        <p:spPr>
          <a:xfrm>
            <a:off x="2161375" y="5218386"/>
            <a:ext cx="2053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More compact in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26591-1935-CD8D-01F0-40759C7A8E12}"/>
              </a:ext>
            </a:extLst>
          </p:cNvPr>
          <p:cNvSpPr txBox="1"/>
          <p:nvPr/>
        </p:nvSpPr>
        <p:spPr>
          <a:xfrm>
            <a:off x="4855876" y="5218386"/>
            <a:ext cx="2053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More compact in z</a:t>
            </a:r>
          </a:p>
        </p:txBody>
      </p:sp>
    </p:spTree>
    <p:extLst>
      <p:ext uri="{BB962C8B-B14F-4D97-AF65-F5344CB8AC3E}">
        <p14:creationId xmlns:p14="http://schemas.microsoft.com/office/powerpoint/2010/main" val="230058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D062-DF9F-F9E1-4855-2254AA7E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47" y="1615669"/>
            <a:ext cx="10053763" cy="10578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latin typeface="+mj-lt"/>
                <a:ea typeface="+mj-ea"/>
                <a:cs typeface="+mj-cs"/>
              </a:rPr>
              <a:t>Why apply weighting?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4DEE56-6ACB-CF8A-1B4E-7A547C911C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0105" y="3880797"/>
            <a:ext cx="10005951" cy="1458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Gravity sensitivity decreases with depth </a:t>
            </a:r>
          </a:p>
          <a:p>
            <a:pPr marL="342900" marR="0" lvl="0" indent="-342900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sensitivity is spatially uneven </a:t>
            </a:r>
          </a:p>
          <a:p>
            <a:pPr marL="342900" marR="0" lvl="0" indent="-342900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Weighting helps reduce inversion bias in the recovered model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A0274BA-C08F-46C1-D147-1EDC48F27721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4856305" cy="4861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/>
              <a:t>Weighting</a:t>
            </a:r>
          </a:p>
        </p:txBody>
      </p:sp>
    </p:spTree>
    <p:extLst>
      <p:ext uri="{BB962C8B-B14F-4D97-AF65-F5344CB8AC3E}">
        <p14:creationId xmlns:p14="http://schemas.microsoft.com/office/powerpoint/2010/main" val="3805003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ED7DEF-645C-5CF0-307E-199AD1293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21" y="1589571"/>
            <a:ext cx="5462039" cy="63251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D2093E4-399E-FA87-29CC-28242B88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8" y="194859"/>
            <a:ext cx="5838036" cy="486178"/>
          </a:xfrm>
        </p:spPr>
        <p:txBody>
          <a:bodyPr>
            <a:noAutofit/>
          </a:bodyPr>
          <a:lstStyle/>
          <a:p>
            <a:r>
              <a:rPr lang="en-CA" sz="3200" dirty="0"/>
              <a:t>Weighting:  </a:t>
            </a:r>
            <a:r>
              <a:rPr lang="en-CA" sz="2800" dirty="0"/>
              <a:t>Depth </a:t>
            </a:r>
            <a:r>
              <a:rPr lang="en-CA" sz="2800" dirty="0" err="1"/>
              <a:t>v.s</a:t>
            </a:r>
            <a:r>
              <a:rPr lang="en-CA" sz="2800" dirty="0"/>
              <a:t>. Sensitivity</a:t>
            </a:r>
            <a:endParaRPr lang="en-CA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6146E8-7B20-567E-4D6A-6FBBB64812A9}"/>
              </a:ext>
            </a:extLst>
          </p:cNvPr>
          <p:cNvSpPr txBox="1"/>
          <p:nvPr/>
        </p:nvSpPr>
        <p:spPr>
          <a:xfrm>
            <a:off x="2371516" y="2655444"/>
            <a:ext cx="304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 (Li and Oldenburg, 1998)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1DAD4F-D99B-E5F0-F7A8-717E5D394D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547"/>
          <a:stretch>
            <a:fillRect/>
          </a:stretch>
        </p:blipFill>
        <p:spPr>
          <a:xfrm>
            <a:off x="439134" y="2415559"/>
            <a:ext cx="1674245" cy="6438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79A1D70-CC7D-3D46-DB49-578F81F69A4E}"/>
              </a:ext>
            </a:extLst>
          </p:cNvPr>
          <p:cNvSpPr txBox="1"/>
          <p:nvPr/>
        </p:nvSpPr>
        <p:spPr>
          <a:xfrm>
            <a:off x="358721" y="1072362"/>
            <a:ext cx="2610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chemeClr val="accent1">
                    <a:lumMod val="75000"/>
                  </a:schemeClr>
                </a:solidFill>
              </a:rPr>
              <a:t>Depth-weighting: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0325C6-FF84-06E7-1E4B-E4D05EBD209B}"/>
              </a:ext>
            </a:extLst>
          </p:cNvPr>
          <p:cNvSpPr txBox="1"/>
          <p:nvPr/>
        </p:nvSpPr>
        <p:spPr>
          <a:xfrm>
            <a:off x="358721" y="3527309"/>
            <a:ext cx="5352024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Compensates for the natural decay of gravity sensitivity with depth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the tendency of inversion to place anomalies too close to the surface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Mainly addresses </a:t>
            </a:r>
            <a:r>
              <a:rPr lang="en-US" b="1" dirty="0"/>
              <a:t>shallow bias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672F9-7BB0-D8AB-BE2B-E006A5D04BBE}"/>
              </a:ext>
            </a:extLst>
          </p:cNvPr>
          <p:cNvSpPr txBox="1"/>
          <p:nvPr/>
        </p:nvSpPr>
        <p:spPr>
          <a:xfrm>
            <a:off x="6332497" y="1072362"/>
            <a:ext cx="355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chemeClr val="accent1">
                    <a:lumMod val="75000"/>
                  </a:schemeClr>
                </a:solidFill>
              </a:rPr>
              <a:t>Sensitivity-weighting: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98A00F-F5E5-B9A8-A188-0267303C1ABF}"/>
              </a:ext>
            </a:extLst>
          </p:cNvPr>
          <p:cNvCxnSpPr>
            <a:cxnSpLocks/>
          </p:cNvCxnSpPr>
          <p:nvPr/>
        </p:nvCxnSpPr>
        <p:spPr>
          <a:xfrm>
            <a:off x="5981414" y="1028892"/>
            <a:ext cx="13750" cy="477514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1CF68AC-C4CA-277F-2D04-21E2AD0CF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497" y="1589571"/>
            <a:ext cx="5661608" cy="6277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A61371-2ACD-00E3-37A2-41C628E4F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283" y="2471276"/>
            <a:ext cx="1140844" cy="5441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3C9064-D328-F666-495E-4C6D9C3E90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8376" y="2295954"/>
            <a:ext cx="1654197" cy="8586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C727992-109A-C563-7A66-0DCD01D1580F}"/>
              </a:ext>
            </a:extLst>
          </p:cNvPr>
          <p:cNvSpPr txBox="1"/>
          <p:nvPr/>
        </p:nvSpPr>
        <p:spPr>
          <a:xfrm>
            <a:off x="6155798" y="3429000"/>
            <a:ext cx="5737279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Jacobian-based sensitivities for each cell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Balances regularization according to the actual sensitivity distribution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Accounts for depth, survey geometry, and kernel structure</a:t>
            </a:r>
            <a:endParaRPr lang="en-CA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93C9FF-E712-8B62-46D4-6AB655A281F8}"/>
              </a:ext>
            </a:extLst>
          </p:cNvPr>
          <p:cNvSpPr txBox="1"/>
          <p:nvPr/>
        </p:nvSpPr>
        <p:spPr>
          <a:xfrm>
            <a:off x="3670620" y="5934670"/>
            <a:ext cx="6094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difference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Depth weighting is depth-based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Sensitivity weighting is Jacobian-based and more general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CB6DD7-B738-FADF-6204-BD39BC90EB32}"/>
              </a:ext>
            </a:extLst>
          </p:cNvPr>
          <p:cNvCxnSpPr>
            <a:cxnSpLocks/>
          </p:cNvCxnSpPr>
          <p:nvPr/>
        </p:nvCxnSpPr>
        <p:spPr>
          <a:xfrm>
            <a:off x="100584" y="5804034"/>
            <a:ext cx="1209141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8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17F7-1E12-C27D-983C-FF9940DC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018F392-A376-C342-59C9-12B39BA452A0}"/>
              </a:ext>
            </a:extLst>
          </p:cNvPr>
          <p:cNvSpPr/>
          <p:nvPr/>
        </p:nvSpPr>
        <p:spPr>
          <a:xfrm>
            <a:off x="1011800" y="1588389"/>
            <a:ext cx="3949938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dirty="0"/>
              <a:t>Sparse-norm + depth-weighting (IRLS)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6CA5A-1B26-F5E7-3722-78044E742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31" y="2818801"/>
            <a:ext cx="5661230" cy="354270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7C59876D-654F-BF2B-0481-36F3B408F71E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5838036" cy="486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/>
              <a:t>Weighting:  </a:t>
            </a:r>
            <a:r>
              <a:rPr lang="en-CA" sz="2800" dirty="0"/>
              <a:t>Depth </a:t>
            </a:r>
            <a:r>
              <a:rPr lang="en-CA" sz="2800" dirty="0" err="1"/>
              <a:t>v.s</a:t>
            </a:r>
            <a:r>
              <a:rPr lang="en-CA" sz="2800" dirty="0"/>
              <a:t>. Sensitivity</a:t>
            </a:r>
            <a:endParaRPr lang="en-CA" sz="3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CD579E-5573-2B3A-19D9-ED66BE22CCBB}"/>
              </a:ext>
            </a:extLst>
          </p:cNvPr>
          <p:cNvSpPr/>
          <p:nvPr/>
        </p:nvSpPr>
        <p:spPr>
          <a:xfrm>
            <a:off x="7169764" y="1588389"/>
            <a:ext cx="4383241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dirty="0"/>
              <a:t>Sparse-norm + sensitivity-weighting  (IRLS)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4597E1-7E56-3E85-3C59-379B327E0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70" y="2813646"/>
            <a:ext cx="5661230" cy="35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37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9253C1-0EC1-18A6-B1A3-9A31A3BF6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8" y="3095528"/>
            <a:ext cx="5523851" cy="304126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E829A7A-B4EE-E350-D583-869D68BD1129}"/>
              </a:ext>
            </a:extLst>
          </p:cNvPr>
          <p:cNvSpPr/>
          <p:nvPr/>
        </p:nvSpPr>
        <p:spPr>
          <a:xfrm>
            <a:off x="860545" y="1897773"/>
            <a:ext cx="3949938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dirty="0"/>
              <a:t>Sparse-norm + depth-weighting (IRLS)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6B00CF-C827-ED55-985C-D9F8451FC88E}"/>
              </a:ext>
            </a:extLst>
          </p:cNvPr>
          <p:cNvSpPr/>
          <p:nvPr/>
        </p:nvSpPr>
        <p:spPr>
          <a:xfrm>
            <a:off x="7018509" y="1897773"/>
            <a:ext cx="4383241" cy="524160"/>
          </a:xfrm>
          <a:custGeom>
            <a:avLst/>
            <a:gdLst>
              <a:gd name="csX0" fmla="*/ 0 w 5858466"/>
              <a:gd name="csY0" fmla="*/ 87362 h 524160"/>
              <a:gd name="csX1" fmla="*/ 87362 w 5858466"/>
              <a:gd name="csY1" fmla="*/ 0 h 524160"/>
              <a:gd name="csX2" fmla="*/ 5771104 w 5858466"/>
              <a:gd name="csY2" fmla="*/ 0 h 524160"/>
              <a:gd name="csX3" fmla="*/ 5858466 w 5858466"/>
              <a:gd name="csY3" fmla="*/ 87362 h 524160"/>
              <a:gd name="csX4" fmla="*/ 5858466 w 5858466"/>
              <a:gd name="csY4" fmla="*/ 436798 h 524160"/>
              <a:gd name="csX5" fmla="*/ 5771104 w 5858466"/>
              <a:gd name="csY5" fmla="*/ 524160 h 524160"/>
              <a:gd name="csX6" fmla="*/ 87362 w 5858466"/>
              <a:gd name="csY6" fmla="*/ 524160 h 524160"/>
              <a:gd name="csX7" fmla="*/ 0 w 5858466"/>
              <a:gd name="csY7" fmla="*/ 436798 h 524160"/>
              <a:gd name="csX8" fmla="*/ 0 w 5858466"/>
              <a:gd name="csY8" fmla="*/ 87362 h 5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58466" h="524160">
                <a:moveTo>
                  <a:pt x="0" y="87362"/>
                </a:moveTo>
                <a:cubicBezTo>
                  <a:pt x="0" y="39113"/>
                  <a:pt x="39113" y="0"/>
                  <a:pt x="87362" y="0"/>
                </a:cubicBezTo>
                <a:lnTo>
                  <a:pt x="5771104" y="0"/>
                </a:lnTo>
                <a:cubicBezTo>
                  <a:pt x="5819353" y="0"/>
                  <a:pt x="5858466" y="39113"/>
                  <a:pt x="5858466" y="87362"/>
                </a:cubicBezTo>
                <a:lnTo>
                  <a:pt x="5858466" y="436798"/>
                </a:lnTo>
                <a:cubicBezTo>
                  <a:pt x="5858466" y="485047"/>
                  <a:pt x="5819353" y="524160"/>
                  <a:pt x="5771104" y="524160"/>
                </a:cubicBezTo>
                <a:lnTo>
                  <a:pt x="87362" y="524160"/>
                </a:lnTo>
                <a:cubicBezTo>
                  <a:pt x="39113" y="524160"/>
                  <a:pt x="0" y="485047"/>
                  <a:pt x="0" y="436798"/>
                </a:cubicBezTo>
                <a:lnTo>
                  <a:pt x="0" y="8736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167" tIns="94167" rIns="94167" bIns="94167" numCol="1" spcCol="1270" anchor="ctr" anchorCtr="0">
            <a:no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dirty="0"/>
              <a:t>Sparse-norm + sensitivity-weighting  (IRLS)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78F754-D13B-F8B2-5C18-532C21DC1A4E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5838036" cy="486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/>
              <a:t>Weighting:  </a:t>
            </a:r>
            <a:r>
              <a:rPr lang="en-CA" sz="2800" dirty="0"/>
              <a:t>Depth </a:t>
            </a:r>
            <a:r>
              <a:rPr lang="en-CA" sz="2800" dirty="0" err="1"/>
              <a:t>v.s</a:t>
            </a:r>
            <a:r>
              <a:rPr lang="en-CA" sz="2800" dirty="0"/>
              <a:t>. Sensitivity</a:t>
            </a:r>
            <a:endParaRPr lang="en-CA" sz="3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F27A50-76AA-8F47-B341-6BFB7B32C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19" y="3095528"/>
            <a:ext cx="5522529" cy="30405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AAC66-F144-B958-3CFD-1DD8F076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934" y="1317887"/>
            <a:ext cx="3060460" cy="486178"/>
          </a:xfrm>
        </p:spPr>
        <p:txBody>
          <a:bodyPr>
            <a:noAutofit/>
          </a:bodyPr>
          <a:lstStyle/>
          <a:p>
            <a:pPr algn="ctr"/>
            <a:r>
              <a:rPr lang="en-CA" sz="2800" dirty="0"/>
              <a:t>Different norms</a:t>
            </a:r>
          </a:p>
        </p:txBody>
      </p:sp>
    </p:spTree>
    <p:extLst>
      <p:ext uri="{BB962C8B-B14F-4D97-AF65-F5344CB8AC3E}">
        <p14:creationId xmlns:p14="http://schemas.microsoft.com/office/powerpoint/2010/main" val="1744675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27F0-8793-685B-FE7C-6F24AF7BC02F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4856305" cy="4861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/>
              <a:t>Final Comparison</a:t>
            </a:r>
            <a:endParaRPr lang="en-CA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A49EB-1D85-9143-8181-5D5B2F1F3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420" y="1047493"/>
            <a:ext cx="7611160" cy="4190467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CE432096-4659-57DA-DEA6-A0B3F63EA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819" y="5431487"/>
            <a:ext cx="945823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L2 inversion produces smoother and more diffuse anomalies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Sparse IRLS recovers more compact bodies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Weighting changes the vertical and spatial distribution of the recovered model </a:t>
            </a:r>
          </a:p>
        </p:txBody>
      </p:sp>
    </p:spTree>
    <p:extLst>
      <p:ext uri="{BB962C8B-B14F-4D97-AF65-F5344CB8AC3E}">
        <p14:creationId xmlns:p14="http://schemas.microsoft.com/office/powerpoint/2010/main" val="974432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FCC9-908A-0347-42DC-183CCD6CCECE}"/>
              </a:ext>
            </a:extLst>
          </p:cNvPr>
          <p:cNvSpPr txBox="1">
            <a:spLocks/>
          </p:cNvSpPr>
          <p:nvPr/>
        </p:nvSpPr>
        <p:spPr>
          <a:xfrm>
            <a:off x="157128" y="194859"/>
            <a:ext cx="4856305" cy="4861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/>
              <a:t>Key Takeaways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4F4E90-8424-BA55-7AAA-A85B32252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166" y="2157345"/>
            <a:ext cx="11003333" cy="193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Gravity inversion results depend strongly on regularization choice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Sparse-norm inversion using IRLS recovers more compact anomalies than L2 inversion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Weighting helps reduce inversion bias, especially for depth and sensitivity effects </a:t>
            </a:r>
          </a:p>
        </p:txBody>
      </p:sp>
    </p:spTree>
    <p:extLst>
      <p:ext uri="{BB962C8B-B14F-4D97-AF65-F5344CB8AC3E}">
        <p14:creationId xmlns:p14="http://schemas.microsoft.com/office/powerpoint/2010/main" val="62773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EE15-297F-6F25-EF24-5B88E866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8DB54-B4E8-AD57-62EF-5A951F2BF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83229"/>
            <a:ext cx="9144000" cy="2387600"/>
          </a:xfrm>
        </p:spPr>
        <p:txBody>
          <a:bodyPr>
            <a:noAutofit/>
          </a:bodyPr>
          <a:lstStyle/>
          <a:p>
            <a:r>
              <a:rPr lang="en-US" sz="6600" dirty="0"/>
              <a:t>Thank you</a:t>
            </a:r>
            <a:endParaRPr lang="en-CA" sz="6600" dirty="0"/>
          </a:p>
        </p:txBody>
      </p:sp>
    </p:spTree>
    <p:extLst>
      <p:ext uri="{BB962C8B-B14F-4D97-AF65-F5344CB8AC3E}">
        <p14:creationId xmlns:p14="http://schemas.microsoft.com/office/powerpoint/2010/main" val="1412954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8594</TotalTime>
  <Words>474</Words>
  <Application>Microsoft Office PowerPoint</Application>
  <PresentationFormat>Widescreen</PresentationFormat>
  <Paragraphs>95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3D Gravity Inversion of a Synthetic Geological Model in SimPEG</vt:lpstr>
      <vt:lpstr>PowerPoint Presentation</vt:lpstr>
      <vt:lpstr>Physical properties</vt:lpstr>
      <vt:lpstr>PowerPoint Presentation</vt:lpstr>
      <vt:lpstr>PowerPoint Presentation</vt:lpstr>
      <vt:lpstr>L2 Inversion</vt:lpstr>
      <vt:lpstr>Sparse-norm</vt:lpstr>
      <vt:lpstr>Sparse-norm (example)</vt:lpstr>
      <vt:lpstr>Sparse-norm (example)</vt:lpstr>
      <vt:lpstr>Sparse-norm</vt:lpstr>
      <vt:lpstr>Sparse-norm Inversion</vt:lpstr>
      <vt:lpstr>Different norms</vt:lpstr>
      <vt:lpstr>Why apply weighting?</vt:lpstr>
      <vt:lpstr>Weighting:  Depth v.s. Sensitivity</vt:lpstr>
      <vt:lpstr>PowerPoint Presentation</vt:lpstr>
      <vt:lpstr>Different norms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Wu</dc:creator>
  <cp:lastModifiedBy>Liam Wu</cp:lastModifiedBy>
  <cp:revision>73</cp:revision>
  <dcterms:created xsi:type="dcterms:W3CDTF">2026-03-29T04:32:59Z</dcterms:created>
  <dcterms:modified xsi:type="dcterms:W3CDTF">2026-04-09T21:28:14Z</dcterms:modified>
</cp:coreProperties>
</file>