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2" r:id="rId4"/>
    <p:sldId id="261" r:id="rId5"/>
    <p:sldId id="263" r:id="rId6"/>
    <p:sldId id="265" r:id="rId7"/>
    <p:sldId id="264" r:id="rId8"/>
    <p:sldId id="266" r:id="rId9"/>
    <p:sldId id="267" r:id="rId10"/>
    <p:sldId id="268" r:id="rId11"/>
    <p:sldId id="257" r:id="rId12"/>
    <p:sldId id="269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2268" y="11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135AE-2943-B9A3-595E-49098E5B0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5C7C53-8170-146A-E3ED-367C313C8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E813F-F5CC-FD40-CBA6-BB875DFC0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EE04-D9F6-4898-AE85-C644432723C4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F1D1D-59E9-A492-129F-46B1345B8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B4A40-C3B8-BBDA-FE28-BE5DF1E7E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5542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4C6DA-3851-C94C-097F-11AB5795A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07DA6-50D4-5375-4C8E-26D445F0F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33BFB-229C-035A-92C5-292B6AEF0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EE04-D9F6-4898-AE85-C644432723C4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5D787-2FC2-1B59-E6DE-2AE9DAFD5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000C0-908C-9B72-F806-671DA29BE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541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E059B-4A1E-0305-7ACE-CE07C396B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73BCC-C822-7973-38E1-69D64D537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EB434-964A-1EBD-ABED-04E00E215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EE04-D9F6-4898-AE85-C644432723C4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456A7-9CC7-0A39-EB7C-2967202B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1F48A-BB40-3B6A-9040-377B7EEBF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7097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903F-0FF0-9222-7221-EEB9722C7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869EB-2608-F77F-289A-CD6A0DD25C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C6979-E386-2507-F35B-BC790ED3F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5C5BCE-2835-2865-5FF5-87E228727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EE04-D9F6-4898-AE85-C644432723C4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283BF9-7691-B319-C0DA-474F5663A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CE771-5CE5-2B7F-E226-19F6F01E8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8123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E8F7E-DDB7-5E5F-69FB-CBA848CAB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76EDD-B42D-7583-F3C5-4BA7B8543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C02B2-9A78-1A02-C598-1917AE2C83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40E1B1-C9D7-527C-5A36-79A0002BA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695BA1-8AEC-5C33-2DE1-A1266C6B50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48E9C-3F1C-9F24-16A2-57F110911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EE04-D9F6-4898-AE85-C644432723C4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78491C-82DC-E9BE-06BB-8892D039A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28FD32-372F-A255-4A18-3A0F6706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591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11175-ECA9-1B20-A307-5683865C2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1EC223-3E36-2E00-84B8-DA208306C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EE04-D9F6-4898-AE85-C644432723C4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3585D2-4C44-C69F-68B4-AFE2E316B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8D46A-B965-F7A4-AB8B-CD4FF4E53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5047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C66123-48AC-7ECB-747E-DA132DCFF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EE04-D9F6-4898-AE85-C644432723C4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53EFE4-C90E-0981-8682-68D4CAA1F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2102B-94A9-D7ED-298E-3688529D5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3246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22B39-1DC9-B5E9-702E-BCC147E61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72E55-6A9B-3FA6-DAE2-3A9AFF743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5E857-B118-C3B6-A62F-F7A273851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565D9-AF38-05EC-A183-E7EEF9DC0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EE04-D9F6-4898-AE85-C644432723C4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77161-98C1-BFA2-DECF-7F4E64681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CA252-A8DD-3042-5FC4-BE1F11E2D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355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3248B-B06A-F75D-A352-C31306468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BD891C-DA2C-01B8-3F2E-157BAE5BA3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9C04C-9B0C-F231-AE6B-BEEEB3435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36946-843E-CD08-0816-125120681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EE04-D9F6-4898-AE85-C644432723C4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E9C63-7509-8A28-3F47-6723763A5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5726E-3551-7D23-718E-A0DFE8AD5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0268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7F8B6-A921-4BD1-467B-60FDE766E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E3702A-10FB-3260-05F1-36EA1EB86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C1380-074E-80AB-95C2-C4512707B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EE04-D9F6-4898-AE85-C644432723C4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1B830-2212-7B92-458C-1D1F6DFF8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C83CD-C23E-9049-1AAA-F0437EC1D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432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F7893C-03D3-A9A9-DAF4-1DF395C013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E27587-C33B-A82B-D314-751DD2F004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AC74C-73E5-9753-2B02-1BE37DB3D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EE04-D9F6-4898-AE85-C644432723C4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AB547-5BAA-35D3-AC9B-4B08C4CBD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40B5E-F22A-1C15-8846-D09A0A4C7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4759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03709A-02A0-E7D3-F067-CF2FFC9B7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03568D-0AC8-3997-CB26-0014C78C8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55B97-2559-1C79-F387-30658F808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FDEE04-D9F6-4898-AE85-C644432723C4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00547-C334-EBF5-713F-6256019BA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588DC-A381-8266-D5F7-1B742F450E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1026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1E414-123E-4582-E238-1DE9CCFE4F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000" b="1" dirty="0"/>
              <a:t>3D Gravity Inversion of a Synthetic Geological Model in </a:t>
            </a:r>
            <a:r>
              <a:rPr lang="en-US" sz="4000" b="1" dirty="0" err="1"/>
              <a:t>SimPEG</a:t>
            </a:r>
            <a:endParaRPr lang="en-CA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7D59B3-029E-81E7-272C-9D170748A3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 inversion method and weighting strategy affect recovery of subsurface density structure?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10538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95733-19F8-3FF7-B7B6-7C2E7D715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29" y="194859"/>
            <a:ext cx="3349122" cy="486178"/>
          </a:xfrm>
        </p:spPr>
        <p:txBody>
          <a:bodyPr>
            <a:noAutofit/>
          </a:bodyPr>
          <a:lstStyle/>
          <a:p>
            <a:r>
              <a:rPr lang="en-CA" sz="3200" dirty="0"/>
              <a:t>Setup /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93497-9F63-244A-F99A-281788D42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gravity data only indirectly reflects subsurface density</a:t>
            </a:r>
          </a:p>
          <a:p>
            <a:r>
              <a:rPr lang="en-CA" sz="2400" dirty="0"/>
              <a:t>inversion is non-unique</a:t>
            </a:r>
          </a:p>
          <a:p>
            <a:r>
              <a:rPr lang="en-US" sz="2400" dirty="0"/>
              <a:t>regularization choices can change recovered geometry</a:t>
            </a:r>
          </a:p>
          <a:p>
            <a:r>
              <a:rPr lang="en-US" sz="2400" dirty="0"/>
              <a:t>synthetic test lets us compare recovered model against known truth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230538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A971B-537D-A5AA-8C32-28C75FA27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47FFF-C261-A954-6623-3BCF690F0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28" y="194859"/>
            <a:ext cx="4856305" cy="486178"/>
          </a:xfrm>
        </p:spPr>
        <p:txBody>
          <a:bodyPr>
            <a:noAutofit/>
          </a:bodyPr>
          <a:lstStyle/>
          <a:p>
            <a:r>
              <a:rPr lang="en-CA" sz="3200" dirty="0"/>
              <a:t>Physical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93C4A-9D59-CF72-9E55-D4518B015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39"/>
            <a:ext cx="10515600" cy="3313933"/>
          </a:xfrm>
        </p:spPr>
        <p:txBody>
          <a:bodyPr>
            <a:normAutofit/>
          </a:bodyPr>
          <a:lstStyle/>
          <a:p>
            <a:r>
              <a:rPr lang="en-US" sz="2400" dirty="0"/>
              <a:t>Density: background 0, PK = -0.8, VK = -0.2</a:t>
            </a:r>
          </a:p>
          <a:p>
            <a:pPr marL="0" indent="0">
              <a:buNone/>
            </a:pPr>
            <a:r>
              <a:rPr lang="en-US" sz="2400" dirty="0"/>
              <a:t>	two anomalous bodies embedded in zero-density background</a:t>
            </a:r>
            <a:endParaRPr lang="en-CA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3F4B23-B813-B8D0-6000-2BA26E981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03" y="3008507"/>
            <a:ext cx="5842438" cy="35054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A9B075-A306-EB35-C89D-095EAD211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382" y="4376373"/>
            <a:ext cx="5781764" cy="130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173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BF34427-E78C-E2C5-CC40-FD91DBBA3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28" y="194859"/>
            <a:ext cx="4856305" cy="486178"/>
          </a:xfrm>
        </p:spPr>
        <p:txBody>
          <a:bodyPr>
            <a:noAutofit/>
          </a:bodyPr>
          <a:lstStyle/>
          <a:p>
            <a:r>
              <a:rPr lang="en-CA" sz="3200" dirty="0"/>
              <a:t>Survey +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8D7FCA-316C-66F1-600C-174BE243A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69" y="1374754"/>
            <a:ext cx="5681923" cy="49093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93E4D0-5578-5C28-BCB5-730F22454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689" y="1838013"/>
            <a:ext cx="4247344" cy="434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00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952A936-ECFE-F76B-D944-C6E33EA43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047" y="188553"/>
            <a:ext cx="4856305" cy="486178"/>
          </a:xfrm>
        </p:spPr>
        <p:txBody>
          <a:bodyPr>
            <a:noAutofit/>
          </a:bodyPr>
          <a:lstStyle/>
          <a:p>
            <a:r>
              <a:rPr lang="en-CA" sz="3200" dirty="0"/>
              <a:t>Inversion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43D6F47-49BF-06F4-6BFA-BF634C8FAE6D}"/>
              </a:ext>
            </a:extLst>
          </p:cNvPr>
          <p:cNvGrpSpPr/>
          <p:nvPr/>
        </p:nvGrpSpPr>
        <p:grpSpPr>
          <a:xfrm>
            <a:off x="2005373" y="1951014"/>
            <a:ext cx="5858466" cy="2953748"/>
            <a:chOff x="1986454" y="1957320"/>
            <a:chExt cx="5858466" cy="2953748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23C58B5-9B18-EAB2-075A-E496B92837FF}"/>
                </a:ext>
              </a:extLst>
            </p:cNvPr>
            <p:cNvSpPr/>
            <p:nvPr/>
          </p:nvSpPr>
          <p:spPr>
            <a:xfrm>
              <a:off x="1986454" y="1957320"/>
              <a:ext cx="5858466" cy="524160"/>
            </a:xfrm>
            <a:custGeom>
              <a:avLst/>
              <a:gdLst>
                <a:gd name="csX0" fmla="*/ 0 w 5858466"/>
                <a:gd name="csY0" fmla="*/ 87362 h 524160"/>
                <a:gd name="csX1" fmla="*/ 87362 w 5858466"/>
                <a:gd name="csY1" fmla="*/ 0 h 524160"/>
                <a:gd name="csX2" fmla="*/ 5771104 w 5858466"/>
                <a:gd name="csY2" fmla="*/ 0 h 524160"/>
                <a:gd name="csX3" fmla="*/ 5858466 w 5858466"/>
                <a:gd name="csY3" fmla="*/ 87362 h 524160"/>
                <a:gd name="csX4" fmla="*/ 5858466 w 5858466"/>
                <a:gd name="csY4" fmla="*/ 436798 h 524160"/>
                <a:gd name="csX5" fmla="*/ 5771104 w 5858466"/>
                <a:gd name="csY5" fmla="*/ 524160 h 524160"/>
                <a:gd name="csX6" fmla="*/ 87362 w 5858466"/>
                <a:gd name="csY6" fmla="*/ 524160 h 524160"/>
                <a:gd name="csX7" fmla="*/ 0 w 5858466"/>
                <a:gd name="csY7" fmla="*/ 436798 h 524160"/>
                <a:gd name="csX8" fmla="*/ 0 w 5858466"/>
                <a:gd name="csY8" fmla="*/ 87362 h 524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858466" h="524160">
                  <a:moveTo>
                    <a:pt x="0" y="87362"/>
                  </a:moveTo>
                  <a:cubicBezTo>
                    <a:pt x="0" y="39113"/>
                    <a:pt x="39113" y="0"/>
                    <a:pt x="87362" y="0"/>
                  </a:cubicBezTo>
                  <a:lnTo>
                    <a:pt x="5771104" y="0"/>
                  </a:lnTo>
                  <a:cubicBezTo>
                    <a:pt x="5819353" y="0"/>
                    <a:pt x="5858466" y="39113"/>
                    <a:pt x="5858466" y="87362"/>
                  </a:cubicBezTo>
                  <a:lnTo>
                    <a:pt x="5858466" y="436798"/>
                  </a:lnTo>
                  <a:cubicBezTo>
                    <a:pt x="5858466" y="485047"/>
                    <a:pt x="5819353" y="524160"/>
                    <a:pt x="5771104" y="524160"/>
                  </a:cubicBezTo>
                  <a:lnTo>
                    <a:pt x="87362" y="524160"/>
                  </a:lnTo>
                  <a:cubicBezTo>
                    <a:pt x="39113" y="524160"/>
                    <a:pt x="0" y="485047"/>
                    <a:pt x="0" y="436798"/>
                  </a:cubicBezTo>
                  <a:lnTo>
                    <a:pt x="0" y="8736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4167" tIns="94167" rIns="94167" bIns="94167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800" kern="1200" dirty="0"/>
                <a:t>Least-square L2</a:t>
              </a: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5289159-8F77-6B29-BE9D-50ADF1FC9606}"/>
                </a:ext>
              </a:extLst>
            </p:cNvPr>
            <p:cNvSpPr/>
            <p:nvPr/>
          </p:nvSpPr>
          <p:spPr>
            <a:xfrm>
              <a:off x="1986454" y="2562120"/>
              <a:ext cx="5858466" cy="524160"/>
            </a:xfrm>
            <a:custGeom>
              <a:avLst/>
              <a:gdLst>
                <a:gd name="csX0" fmla="*/ 0 w 5858466"/>
                <a:gd name="csY0" fmla="*/ 87362 h 524160"/>
                <a:gd name="csX1" fmla="*/ 87362 w 5858466"/>
                <a:gd name="csY1" fmla="*/ 0 h 524160"/>
                <a:gd name="csX2" fmla="*/ 5771104 w 5858466"/>
                <a:gd name="csY2" fmla="*/ 0 h 524160"/>
                <a:gd name="csX3" fmla="*/ 5858466 w 5858466"/>
                <a:gd name="csY3" fmla="*/ 87362 h 524160"/>
                <a:gd name="csX4" fmla="*/ 5858466 w 5858466"/>
                <a:gd name="csY4" fmla="*/ 436798 h 524160"/>
                <a:gd name="csX5" fmla="*/ 5771104 w 5858466"/>
                <a:gd name="csY5" fmla="*/ 524160 h 524160"/>
                <a:gd name="csX6" fmla="*/ 87362 w 5858466"/>
                <a:gd name="csY6" fmla="*/ 524160 h 524160"/>
                <a:gd name="csX7" fmla="*/ 0 w 5858466"/>
                <a:gd name="csY7" fmla="*/ 436798 h 524160"/>
                <a:gd name="csX8" fmla="*/ 0 w 5858466"/>
                <a:gd name="csY8" fmla="*/ 87362 h 524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858466" h="524160">
                  <a:moveTo>
                    <a:pt x="0" y="87362"/>
                  </a:moveTo>
                  <a:cubicBezTo>
                    <a:pt x="0" y="39113"/>
                    <a:pt x="39113" y="0"/>
                    <a:pt x="87362" y="0"/>
                  </a:cubicBezTo>
                  <a:lnTo>
                    <a:pt x="5771104" y="0"/>
                  </a:lnTo>
                  <a:cubicBezTo>
                    <a:pt x="5819353" y="0"/>
                    <a:pt x="5858466" y="39113"/>
                    <a:pt x="5858466" y="87362"/>
                  </a:cubicBezTo>
                  <a:lnTo>
                    <a:pt x="5858466" y="436798"/>
                  </a:lnTo>
                  <a:cubicBezTo>
                    <a:pt x="5858466" y="485047"/>
                    <a:pt x="5819353" y="524160"/>
                    <a:pt x="5771104" y="524160"/>
                  </a:cubicBezTo>
                  <a:lnTo>
                    <a:pt x="87362" y="524160"/>
                  </a:lnTo>
                  <a:cubicBezTo>
                    <a:pt x="39113" y="524160"/>
                    <a:pt x="0" y="485047"/>
                    <a:pt x="0" y="436798"/>
                  </a:cubicBezTo>
                  <a:lnTo>
                    <a:pt x="0" y="8736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4167" tIns="94167" rIns="94167" bIns="94167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800" kern="1200" dirty="0"/>
                <a:t>Iteratively Re-weighted Least-Squares (IRLS)</a:t>
              </a: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108E11C-7790-2CB2-9FB0-F0820C12E074}"/>
                </a:ext>
              </a:extLst>
            </p:cNvPr>
            <p:cNvSpPr/>
            <p:nvPr/>
          </p:nvSpPr>
          <p:spPr>
            <a:xfrm>
              <a:off x="1986454" y="3166920"/>
              <a:ext cx="5858466" cy="524160"/>
            </a:xfrm>
            <a:custGeom>
              <a:avLst/>
              <a:gdLst>
                <a:gd name="csX0" fmla="*/ 0 w 5858466"/>
                <a:gd name="csY0" fmla="*/ 87362 h 524160"/>
                <a:gd name="csX1" fmla="*/ 87362 w 5858466"/>
                <a:gd name="csY1" fmla="*/ 0 h 524160"/>
                <a:gd name="csX2" fmla="*/ 5771104 w 5858466"/>
                <a:gd name="csY2" fmla="*/ 0 h 524160"/>
                <a:gd name="csX3" fmla="*/ 5858466 w 5858466"/>
                <a:gd name="csY3" fmla="*/ 87362 h 524160"/>
                <a:gd name="csX4" fmla="*/ 5858466 w 5858466"/>
                <a:gd name="csY4" fmla="*/ 436798 h 524160"/>
                <a:gd name="csX5" fmla="*/ 5771104 w 5858466"/>
                <a:gd name="csY5" fmla="*/ 524160 h 524160"/>
                <a:gd name="csX6" fmla="*/ 87362 w 5858466"/>
                <a:gd name="csY6" fmla="*/ 524160 h 524160"/>
                <a:gd name="csX7" fmla="*/ 0 w 5858466"/>
                <a:gd name="csY7" fmla="*/ 436798 h 524160"/>
                <a:gd name="csX8" fmla="*/ 0 w 5858466"/>
                <a:gd name="csY8" fmla="*/ 87362 h 524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858466" h="524160">
                  <a:moveTo>
                    <a:pt x="0" y="87362"/>
                  </a:moveTo>
                  <a:cubicBezTo>
                    <a:pt x="0" y="39113"/>
                    <a:pt x="39113" y="0"/>
                    <a:pt x="87362" y="0"/>
                  </a:cubicBezTo>
                  <a:lnTo>
                    <a:pt x="5771104" y="0"/>
                  </a:lnTo>
                  <a:cubicBezTo>
                    <a:pt x="5819353" y="0"/>
                    <a:pt x="5858466" y="39113"/>
                    <a:pt x="5858466" y="87362"/>
                  </a:cubicBezTo>
                  <a:lnTo>
                    <a:pt x="5858466" y="436798"/>
                  </a:lnTo>
                  <a:cubicBezTo>
                    <a:pt x="5858466" y="485047"/>
                    <a:pt x="5819353" y="524160"/>
                    <a:pt x="5771104" y="524160"/>
                  </a:cubicBezTo>
                  <a:lnTo>
                    <a:pt x="87362" y="524160"/>
                  </a:lnTo>
                  <a:cubicBezTo>
                    <a:pt x="39113" y="524160"/>
                    <a:pt x="0" y="485047"/>
                    <a:pt x="0" y="436798"/>
                  </a:cubicBezTo>
                  <a:lnTo>
                    <a:pt x="0" y="8736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4167" tIns="94167" rIns="94167" bIns="94167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800" kern="1200" dirty="0"/>
                <a:t>Depth-weighted IRLS </a:t>
              </a: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F8BEB0B-5689-0189-F1BA-6F6563746C0A}"/>
                </a:ext>
              </a:extLst>
            </p:cNvPr>
            <p:cNvSpPr/>
            <p:nvPr/>
          </p:nvSpPr>
          <p:spPr>
            <a:xfrm>
              <a:off x="1986454" y="3771720"/>
              <a:ext cx="5858466" cy="524160"/>
            </a:xfrm>
            <a:custGeom>
              <a:avLst/>
              <a:gdLst>
                <a:gd name="csX0" fmla="*/ 0 w 5858466"/>
                <a:gd name="csY0" fmla="*/ 87362 h 524160"/>
                <a:gd name="csX1" fmla="*/ 87362 w 5858466"/>
                <a:gd name="csY1" fmla="*/ 0 h 524160"/>
                <a:gd name="csX2" fmla="*/ 5771104 w 5858466"/>
                <a:gd name="csY2" fmla="*/ 0 h 524160"/>
                <a:gd name="csX3" fmla="*/ 5858466 w 5858466"/>
                <a:gd name="csY3" fmla="*/ 87362 h 524160"/>
                <a:gd name="csX4" fmla="*/ 5858466 w 5858466"/>
                <a:gd name="csY4" fmla="*/ 436798 h 524160"/>
                <a:gd name="csX5" fmla="*/ 5771104 w 5858466"/>
                <a:gd name="csY5" fmla="*/ 524160 h 524160"/>
                <a:gd name="csX6" fmla="*/ 87362 w 5858466"/>
                <a:gd name="csY6" fmla="*/ 524160 h 524160"/>
                <a:gd name="csX7" fmla="*/ 0 w 5858466"/>
                <a:gd name="csY7" fmla="*/ 436798 h 524160"/>
                <a:gd name="csX8" fmla="*/ 0 w 5858466"/>
                <a:gd name="csY8" fmla="*/ 87362 h 524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858466" h="524160">
                  <a:moveTo>
                    <a:pt x="0" y="87362"/>
                  </a:moveTo>
                  <a:cubicBezTo>
                    <a:pt x="0" y="39113"/>
                    <a:pt x="39113" y="0"/>
                    <a:pt x="87362" y="0"/>
                  </a:cubicBezTo>
                  <a:lnTo>
                    <a:pt x="5771104" y="0"/>
                  </a:lnTo>
                  <a:cubicBezTo>
                    <a:pt x="5819353" y="0"/>
                    <a:pt x="5858466" y="39113"/>
                    <a:pt x="5858466" y="87362"/>
                  </a:cubicBezTo>
                  <a:lnTo>
                    <a:pt x="5858466" y="436798"/>
                  </a:lnTo>
                  <a:cubicBezTo>
                    <a:pt x="5858466" y="485047"/>
                    <a:pt x="5819353" y="524160"/>
                    <a:pt x="5771104" y="524160"/>
                  </a:cubicBezTo>
                  <a:lnTo>
                    <a:pt x="87362" y="524160"/>
                  </a:lnTo>
                  <a:cubicBezTo>
                    <a:pt x="39113" y="524160"/>
                    <a:pt x="0" y="485047"/>
                    <a:pt x="0" y="436798"/>
                  </a:cubicBezTo>
                  <a:lnTo>
                    <a:pt x="0" y="8736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4167" tIns="94167" rIns="94167" bIns="94167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800" kern="1200" dirty="0"/>
                <a:t>Sensitivity-weighted IRLS </a:t>
              </a: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DD81880-1F4A-4DFC-6065-D028F6604EFD}"/>
                </a:ext>
              </a:extLst>
            </p:cNvPr>
            <p:cNvSpPr/>
            <p:nvPr/>
          </p:nvSpPr>
          <p:spPr>
            <a:xfrm>
              <a:off x="1986454" y="4386908"/>
              <a:ext cx="5858466" cy="524160"/>
            </a:xfrm>
            <a:custGeom>
              <a:avLst/>
              <a:gdLst>
                <a:gd name="csX0" fmla="*/ 0 w 5858466"/>
                <a:gd name="csY0" fmla="*/ 87362 h 524160"/>
                <a:gd name="csX1" fmla="*/ 87362 w 5858466"/>
                <a:gd name="csY1" fmla="*/ 0 h 524160"/>
                <a:gd name="csX2" fmla="*/ 5771104 w 5858466"/>
                <a:gd name="csY2" fmla="*/ 0 h 524160"/>
                <a:gd name="csX3" fmla="*/ 5858466 w 5858466"/>
                <a:gd name="csY3" fmla="*/ 87362 h 524160"/>
                <a:gd name="csX4" fmla="*/ 5858466 w 5858466"/>
                <a:gd name="csY4" fmla="*/ 436798 h 524160"/>
                <a:gd name="csX5" fmla="*/ 5771104 w 5858466"/>
                <a:gd name="csY5" fmla="*/ 524160 h 524160"/>
                <a:gd name="csX6" fmla="*/ 87362 w 5858466"/>
                <a:gd name="csY6" fmla="*/ 524160 h 524160"/>
                <a:gd name="csX7" fmla="*/ 0 w 5858466"/>
                <a:gd name="csY7" fmla="*/ 436798 h 524160"/>
                <a:gd name="csX8" fmla="*/ 0 w 5858466"/>
                <a:gd name="csY8" fmla="*/ 87362 h 524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858466" h="524160">
                  <a:moveTo>
                    <a:pt x="0" y="87362"/>
                  </a:moveTo>
                  <a:cubicBezTo>
                    <a:pt x="0" y="39113"/>
                    <a:pt x="39113" y="0"/>
                    <a:pt x="87362" y="0"/>
                  </a:cubicBezTo>
                  <a:lnTo>
                    <a:pt x="5771104" y="0"/>
                  </a:lnTo>
                  <a:cubicBezTo>
                    <a:pt x="5819353" y="0"/>
                    <a:pt x="5858466" y="39113"/>
                    <a:pt x="5858466" y="87362"/>
                  </a:cubicBezTo>
                  <a:lnTo>
                    <a:pt x="5858466" y="436798"/>
                  </a:lnTo>
                  <a:cubicBezTo>
                    <a:pt x="5858466" y="485047"/>
                    <a:pt x="5819353" y="524160"/>
                    <a:pt x="5771104" y="524160"/>
                  </a:cubicBezTo>
                  <a:lnTo>
                    <a:pt x="87362" y="524160"/>
                  </a:lnTo>
                  <a:cubicBezTo>
                    <a:pt x="39113" y="524160"/>
                    <a:pt x="0" y="485047"/>
                    <a:pt x="0" y="436798"/>
                  </a:cubicBezTo>
                  <a:lnTo>
                    <a:pt x="0" y="8736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4167" tIns="94167" rIns="94167" bIns="94167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800" kern="1200" dirty="0"/>
                <a:t>Reweighted-data IRLS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5047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8821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1E39BF4-289E-8B64-B39B-93365361E972}"/>
              </a:ext>
            </a:extLst>
          </p:cNvPr>
          <p:cNvGrpSpPr/>
          <p:nvPr/>
        </p:nvGrpSpPr>
        <p:grpSpPr>
          <a:xfrm>
            <a:off x="745185" y="984971"/>
            <a:ext cx="5858466" cy="524160"/>
            <a:chOff x="0" y="34385"/>
            <a:chExt cx="5858466" cy="52416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78FCB29-7DB4-5093-D04F-BE243D71ED30}"/>
                </a:ext>
              </a:extLst>
            </p:cNvPr>
            <p:cNvSpPr/>
            <p:nvPr/>
          </p:nvSpPr>
          <p:spPr>
            <a:xfrm>
              <a:off x="0" y="34385"/>
              <a:ext cx="5858466" cy="5241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78BD8B73-862C-C1C5-AFA1-1030C1971D28}"/>
                </a:ext>
              </a:extLst>
            </p:cNvPr>
            <p:cNvSpPr txBox="1"/>
            <p:nvPr/>
          </p:nvSpPr>
          <p:spPr>
            <a:xfrm>
              <a:off x="25587" y="59972"/>
              <a:ext cx="5807292" cy="4729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800" kern="1200"/>
                <a:t>Least-square L2</a:t>
              </a:r>
              <a:endParaRPr lang="en-CA" sz="1800" kern="1200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0D750554-E176-6369-8709-7271450D5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28" y="194859"/>
            <a:ext cx="4856305" cy="486178"/>
          </a:xfrm>
        </p:spPr>
        <p:txBody>
          <a:bodyPr>
            <a:noAutofit/>
          </a:bodyPr>
          <a:lstStyle/>
          <a:p>
            <a:r>
              <a:rPr lang="en-CA" sz="3200" dirty="0"/>
              <a:t>Inversion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AAA21E-D2E1-4E0F-C2BB-6E473BBB9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85" y="2229254"/>
            <a:ext cx="7085339" cy="443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49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3E5A8-6225-518B-9A21-DD5733F4C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9574077-A019-70C3-6D9A-A60339610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28" y="194859"/>
            <a:ext cx="4856305" cy="486178"/>
          </a:xfrm>
        </p:spPr>
        <p:txBody>
          <a:bodyPr>
            <a:noAutofit/>
          </a:bodyPr>
          <a:lstStyle/>
          <a:p>
            <a:r>
              <a:rPr lang="en-CA" sz="3200" dirty="0"/>
              <a:t>Inversion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E2743F2-F112-6FFE-F9F4-A2906F1A299D}"/>
              </a:ext>
            </a:extLst>
          </p:cNvPr>
          <p:cNvSpPr/>
          <p:nvPr/>
        </p:nvSpPr>
        <p:spPr>
          <a:xfrm>
            <a:off x="745185" y="984971"/>
            <a:ext cx="5858466" cy="524160"/>
          </a:xfrm>
          <a:custGeom>
            <a:avLst/>
            <a:gdLst>
              <a:gd name="csX0" fmla="*/ 0 w 5858466"/>
              <a:gd name="csY0" fmla="*/ 87362 h 524160"/>
              <a:gd name="csX1" fmla="*/ 87362 w 5858466"/>
              <a:gd name="csY1" fmla="*/ 0 h 524160"/>
              <a:gd name="csX2" fmla="*/ 5771104 w 5858466"/>
              <a:gd name="csY2" fmla="*/ 0 h 524160"/>
              <a:gd name="csX3" fmla="*/ 5858466 w 5858466"/>
              <a:gd name="csY3" fmla="*/ 87362 h 524160"/>
              <a:gd name="csX4" fmla="*/ 5858466 w 5858466"/>
              <a:gd name="csY4" fmla="*/ 436798 h 524160"/>
              <a:gd name="csX5" fmla="*/ 5771104 w 5858466"/>
              <a:gd name="csY5" fmla="*/ 524160 h 524160"/>
              <a:gd name="csX6" fmla="*/ 87362 w 5858466"/>
              <a:gd name="csY6" fmla="*/ 524160 h 524160"/>
              <a:gd name="csX7" fmla="*/ 0 w 5858466"/>
              <a:gd name="csY7" fmla="*/ 436798 h 524160"/>
              <a:gd name="csX8" fmla="*/ 0 w 5858466"/>
              <a:gd name="csY8" fmla="*/ 87362 h 524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858466" h="524160">
                <a:moveTo>
                  <a:pt x="0" y="87362"/>
                </a:moveTo>
                <a:cubicBezTo>
                  <a:pt x="0" y="39113"/>
                  <a:pt x="39113" y="0"/>
                  <a:pt x="87362" y="0"/>
                </a:cubicBezTo>
                <a:lnTo>
                  <a:pt x="5771104" y="0"/>
                </a:lnTo>
                <a:cubicBezTo>
                  <a:pt x="5819353" y="0"/>
                  <a:pt x="5858466" y="39113"/>
                  <a:pt x="5858466" y="87362"/>
                </a:cubicBezTo>
                <a:lnTo>
                  <a:pt x="5858466" y="436798"/>
                </a:lnTo>
                <a:cubicBezTo>
                  <a:pt x="5858466" y="485047"/>
                  <a:pt x="5819353" y="524160"/>
                  <a:pt x="5771104" y="524160"/>
                </a:cubicBezTo>
                <a:lnTo>
                  <a:pt x="87362" y="524160"/>
                </a:lnTo>
                <a:cubicBezTo>
                  <a:pt x="39113" y="524160"/>
                  <a:pt x="0" y="485047"/>
                  <a:pt x="0" y="436798"/>
                </a:cubicBezTo>
                <a:lnTo>
                  <a:pt x="0" y="8736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4167" tIns="94167" rIns="94167" bIns="94167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800" kern="1200" dirty="0"/>
              <a:t>Iteratively Re-weighted Least-Squares (IRLS)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C3490F-CA19-2560-4FFC-C56F2A3B6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85" y="2229254"/>
            <a:ext cx="7085339" cy="443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695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617F7-1E12-C27D-983C-FF9940DCD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D79FA07-D0AE-0345-14B0-E598E2EE3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28" y="194859"/>
            <a:ext cx="4856305" cy="486178"/>
          </a:xfrm>
        </p:spPr>
        <p:txBody>
          <a:bodyPr>
            <a:noAutofit/>
          </a:bodyPr>
          <a:lstStyle/>
          <a:p>
            <a:r>
              <a:rPr lang="en-CA" sz="3200" dirty="0"/>
              <a:t>Inversion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55CC2DF-E71C-230D-9881-5A5112DD1497}"/>
              </a:ext>
            </a:extLst>
          </p:cNvPr>
          <p:cNvSpPr/>
          <p:nvPr/>
        </p:nvSpPr>
        <p:spPr>
          <a:xfrm>
            <a:off x="745185" y="984971"/>
            <a:ext cx="5858466" cy="524160"/>
          </a:xfrm>
          <a:custGeom>
            <a:avLst/>
            <a:gdLst>
              <a:gd name="csX0" fmla="*/ 0 w 5858466"/>
              <a:gd name="csY0" fmla="*/ 87362 h 524160"/>
              <a:gd name="csX1" fmla="*/ 87362 w 5858466"/>
              <a:gd name="csY1" fmla="*/ 0 h 524160"/>
              <a:gd name="csX2" fmla="*/ 5771104 w 5858466"/>
              <a:gd name="csY2" fmla="*/ 0 h 524160"/>
              <a:gd name="csX3" fmla="*/ 5858466 w 5858466"/>
              <a:gd name="csY3" fmla="*/ 87362 h 524160"/>
              <a:gd name="csX4" fmla="*/ 5858466 w 5858466"/>
              <a:gd name="csY4" fmla="*/ 436798 h 524160"/>
              <a:gd name="csX5" fmla="*/ 5771104 w 5858466"/>
              <a:gd name="csY5" fmla="*/ 524160 h 524160"/>
              <a:gd name="csX6" fmla="*/ 87362 w 5858466"/>
              <a:gd name="csY6" fmla="*/ 524160 h 524160"/>
              <a:gd name="csX7" fmla="*/ 0 w 5858466"/>
              <a:gd name="csY7" fmla="*/ 436798 h 524160"/>
              <a:gd name="csX8" fmla="*/ 0 w 5858466"/>
              <a:gd name="csY8" fmla="*/ 87362 h 524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858466" h="524160">
                <a:moveTo>
                  <a:pt x="0" y="87362"/>
                </a:moveTo>
                <a:cubicBezTo>
                  <a:pt x="0" y="39113"/>
                  <a:pt x="39113" y="0"/>
                  <a:pt x="87362" y="0"/>
                </a:cubicBezTo>
                <a:lnTo>
                  <a:pt x="5771104" y="0"/>
                </a:lnTo>
                <a:cubicBezTo>
                  <a:pt x="5819353" y="0"/>
                  <a:pt x="5858466" y="39113"/>
                  <a:pt x="5858466" y="87362"/>
                </a:cubicBezTo>
                <a:lnTo>
                  <a:pt x="5858466" y="436798"/>
                </a:lnTo>
                <a:cubicBezTo>
                  <a:pt x="5858466" y="485047"/>
                  <a:pt x="5819353" y="524160"/>
                  <a:pt x="5771104" y="524160"/>
                </a:cubicBezTo>
                <a:lnTo>
                  <a:pt x="87362" y="524160"/>
                </a:lnTo>
                <a:cubicBezTo>
                  <a:pt x="39113" y="524160"/>
                  <a:pt x="0" y="485047"/>
                  <a:pt x="0" y="436798"/>
                </a:cubicBezTo>
                <a:lnTo>
                  <a:pt x="0" y="8736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4167" tIns="94167" rIns="94167" bIns="94167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800" kern="1200" dirty="0"/>
              <a:t>Iteratively Re-weighted Last-Squares (IRLS)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018F392-A376-C342-59C9-12B39BA452A0}"/>
              </a:ext>
            </a:extLst>
          </p:cNvPr>
          <p:cNvSpPr/>
          <p:nvPr/>
        </p:nvSpPr>
        <p:spPr>
          <a:xfrm>
            <a:off x="745185" y="983394"/>
            <a:ext cx="5858466" cy="524160"/>
          </a:xfrm>
          <a:custGeom>
            <a:avLst/>
            <a:gdLst>
              <a:gd name="csX0" fmla="*/ 0 w 5858466"/>
              <a:gd name="csY0" fmla="*/ 87362 h 524160"/>
              <a:gd name="csX1" fmla="*/ 87362 w 5858466"/>
              <a:gd name="csY1" fmla="*/ 0 h 524160"/>
              <a:gd name="csX2" fmla="*/ 5771104 w 5858466"/>
              <a:gd name="csY2" fmla="*/ 0 h 524160"/>
              <a:gd name="csX3" fmla="*/ 5858466 w 5858466"/>
              <a:gd name="csY3" fmla="*/ 87362 h 524160"/>
              <a:gd name="csX4" fmla="*/ 5858466 w 5858466"/>
              <a:gd name="csY4" fmla="*/ 436798 h 524160"/>
              <a:gd name="csX5" fmla="*/ 5771104 w 5858466"/>
              <a:gd name="csY5" fmla="*/ 524160 h 524160"/>
              <a:gd name="csX6" fmla="*/ 87362 w 5858466"/>
              <a:gd name="csY6" fmla="*/ 524160 h 524160"/>
              <a:gd name="csX7" fmla="*/ 0 w 5858466"/>
              <a:gd name="csY7" fmla="*/ 436798 h 524160"/>
              <a:gd name="csX8" fmla="*/ 0 w 5858466"/>
              <a:gd name="csY8" fmla="*/ 87362 h 524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858466" h="524160">
                <a:moveTo>
                  <a:pt x="0" y="87362"/>
                </a:moveTo>
                <a:cubicBezTo>
                  <a:pt x="0" y="39113"/>
                  <a:pt x="39113" y="0"/>
                  <a:pt x="87362" y="0"/>
                </a:cubicBezTo>
                <a:lnTo>
                  <a:pt x="5771104" y="0"/>
                </a:lnTo>
                <a:cubicBezTo>
                  <a:pt x="5819353" y="0"/>
                  <a:pt x="5858466" y="39113"/>
                  <a:pt x="5858466" y="87362"/>
                </a:cubicBezTo>
                <a:lnTo>
                  <a:pt x="5858466" y="436798"/>
                </a:lnTo>
                <a:cubicBezTo>
                  <a:pt x="5858466" y="485047"/>
                  <a:pt x="5819353" y="524160"/>
                  <a:pt x="5771104" y="524160"/>
                </a:cubicBezTo>
                <a:lnTo>
                  <a:pt x="87362" y="524160"/>
                </a:lnTo>
                <a:cubicBezTo>
                  <a:pt x="39113" y="524160"/>
                  <a:pt x="0" y="485047"/>
                  <a:pt x="0" y="436798"/>
                </a:cubicBezTo>
                <a:lnTo>
                  <a:pt x="0" y="8736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4167" tIns="94167" rIns="94167" bIns="94167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800" kern="1200" dirty="0"/>
              <a:t>Depth-weighted IRLS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6FD570-8ADD-1DAF-8D26-2931AAE0A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85" y="2229254"/>
            <a:ext cx="7085339" cy="443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337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A93F5-1958-926A-9F29-53F5EBDE4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D7E6182-BB36-6EC4-194E-6266333C3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28" y="194859"/>
            <a:ext cx="4856305" cy="486178"/>
          </a:xfrm>
        </p:spPr>
        <p:txBody>
          <a:bodyPr>
            <a:noAutofit/>
          </a:bodyPr>
          <a:lstStyle/>
          <a:p>
            <a:r>
              <a:rPr lang="en-CA" sz="3200" dirty="0"/>
              <a:t>Inversion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622A68D-19AA-19E8-CEE3-C67E84684CE6}"/>
              </a:ext>
            </a:extLst>
          </p:cNvPr>
          <p:cNvSpPr/>
          <p:nvPr/>
        </p:nvSpPr>
        <p:spPr>
          <a:xfrm>
            <a:off x="745185" y="983394"/>
            <a:ext cx="5858466" cy="524160"/>
          </a:xfrm>
          <a:custGeom>
            <a:avLst/>
            <a:gdLst>
              <a:gd name="csX0" fmla="*/ 0 w 5858466"/>
              <a:gd name="csY0" fmla="*/ 87362 h 524160"/>
              <a:gd name="csX1" fmla="*/ 87362 w 5858466"/>
              <a:gd name="csY1" fmla="*/ 0 h 524160"/>
              <a:gd name="csX2" fmla="*/ 5771104 w 5858466"/>
              <a:gd name="csY2" fmla="*/ 0 h 524160"/>
              <a:gd name="csX3" fmla="*/ 5858466 w 5858466"/>
              <a:gd name="csY3" fmla="*/ 87362 h 524160"/>
              <a:gd name="csX4" fmla="*/ 5858466 w 5858466"/>
              <a:gd name="csY4" fmla="*/ 436798 h 524160"/>
              <a:gd name="csX5" fmla="*/ 5771104 w 5858466"/>
              <a:gd name="csY5" fmla="*/ 524160 h 524160"/>
              <a:gd name="csX6" fmla="*/ 87362 w 5858466"/>
              <a:gd name="csY6" fmla="*/ 524160 h 524160"/>
              <a:gd name="csX7" fmla="*/ 0 w 5858466"/>
              <a:gd name="csY7" fmla="*/ 436798 h 524160"/>
              <a:gd name="csX8" fmla="*/ 0 w 5858466"/>
              <a:gd name="csY8" fmla="*/ 87362 h 524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858466" h="524160">
                <a:moveTo>
                  <a:pt x="0" y="87362"/>
                </a:moveTo>
                <a:cubicBezTo>
                  <a:pt x="0" y="39113"/>
                  <a:pt x="39113" y="0"/>
                  <a:pt x="87362" y="0"/>
                </a:cubicBezTo>
                <a:lnTo>
                  <a:pt x="5771104" y="0"/>
                </a:lnTo>
                <a:cubicBezTo>
                  <a:pt x="5819353" y="0"/>
                  <a:pt x="5858466" y="39113"/>
                  <a:pt x="5858466" y="87362"/>
                </a:cubicBezTo>
                <a:lnTo>
                  <a:pt x="5858466" y="436798"/>
                </a:lnTo>
                <a:cubicBezTo>
                  <a:pt x="5858466" y="485047"/>
                  <a:pt x="5819353" y="524160"/>
                  <a:pt x="5771104" y="524160"/>
                </a:cubicBezTo>
                <a:lnTo>
                  <a:pt x="87362" y="524160"/>
                </a:lnTo>
                <a:cubicBezTo>
                  <a:pt x="39113" y="524160"/>
                  <a:pt x="0" y="485047"/>
                  <a:pt x="0" y="436798"/>
                </a:cubicBezTo>
                <a:lnTo>
                  <a:pt x="0" y="8736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4167" tIns="94167" rIns="94167" bIns="94167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800" kern="1200" dirty="0"/>
              <a:t>Sensitivity-weighted IRLS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0B47DE-2749-AB43-C30D-D038FA5E8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85" y="2229254"/>
            <a:ext cx="7085339" cy="443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401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9B3C73-3C99-6BF0-9B6A-FE12BB7EE7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626"/>
          <a:stretch>
            <a:fillRect/>
          </a:stretch>
        </p:blipFill>
        <p:spPr>
          <a:xfrm>
            <a:off x="4321143" y="458330"/>
            <a:ext cx="4185548" cy="2655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98CC45-3042-4C66-D764-E64E3385A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567" y="5163390"/>
            <a:ext cx="3515624" cy="16021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1D4C46-88E6-12E4-C8D8-914A31788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716" y="5163390"/>
            <a:ext cx="3475951" cy="16021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FFBC24-B132-5B58-446A-669AD1CFA6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2373"/>
          <a:stretch>
            <a:fillRect/>
          </a:stretch>
        </p:blipFill>
        <p:spPr>
          <a:xfrm>
            <a:off x="6580139" y="3452922"/>
            <a:ext cx="4185548" cy="16021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FE288D2-590B-7E78-3CDE-3BD95458021E}"/>
              </a:ext>
            </a:extLst>
          </p:cNvPr>
          <p:cNvSpPr txBox="1"/>
          <p:nvPr/>
        </p:nvSpPr>
        <p:spPr>
          <a:xfrm>
            <a:off x="110066" y="173350"/>
            <a:ext cx="4983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Sensitivity Weighting</a:t>
            </a:r>
            <a:endParaRPr lang="en-CA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BB2FB1-6F56-7AAC-8427-7912015FCB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373"/>
          <a:stretch>
            <a:fillRect/>
          </a:stretch>
        </p:blipFill>
        <p:spPr>
          <a:xfrm>
            <a:off x="2162218" y="3452922"/>
            <a:ext cx="4185548" cy="160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593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67470-08CA-F8C8-79A9-D5C946A47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9DB7C14-F6A9-8A2A-81E9-39BE1D245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28" y="194859"/>
            <a:ext cx="4856305" cy="486178"/>
          </a:xfrm>
        </p:spPr>
        <p:txBody>
          <a:bodyPr>
            <a:noAutofit/>
          </a:bodyPr>
          <a:lstStyle/>
          <a:p>
            <a:r>
              <a:rPr lang="en-CA" sz="3200" dirty="0"/>
              <a:t>Inversion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E3327F7-C23B-D244-099F-DC6B9A55634E}"/>
              </a:ext>
            </a:extLst>
          </p:cNvPr>
          <p:cNvSpPr/>
          <p:nvPr/>
        </p:nvSpPr>
        <p:spPr>
          <a:xfrm>
            <a:off x="745185" y="983394"/>
            <a:ext cx="5858466" cy="524160"/>
          </a:xfrm>
          <a:custGeom>
            <a:avLst/>
            <a:gdLst>
              <a:gd name="csX0" fmla="*/ 0 w 5858466"/>
              <a:gd name="csY0" fmla="*/ 87362 h 524160"/>
              <a:gd name="csX1" fmla="*/ 87362 w 5858466"/>
              <a:gd name="csY1" fmla="*/ 0 h 524160"/>
              <a:gd name="csX2" fmla="*/ 5771104 w 5858466"/>
              <a:gd name="csY2" fmla="*/ 0 h 524160"/>
              <a:gd name="csX3" fmla="*/ 5858466 w 5858466"/>
              <a:gd name="csY3" fmla="*/ 87362 h 524160"/>
              <a:gd name="csX4" fmla="*/ 5858466 w 5858466"/>
              <a:gd name="csY4" fmla="*/ 436798 h 524160"/>
              <a:gd name="csX5" fmla="*/ 5771104 w 5858466"/>
              <a:gd name="csY5" fmla="*/ 524160 h 524160"/>
              <a:gd name="csX6" fmla="*/ 87362 w 5858466"/>
              <a:gd name="csY6" fmla="*/ 524160 h 524160"/>
              <a:gd name="csX7" fmla="*/ 0 w 5858466"/>
              <a:gd name="csY7" fmla="*/ 436798 h 524160"/>
              <a:gd name="csX8" fmla="*/ 0 w 5858466"/>
              <a:gd name="csY8" fmla="*/ 87362 h 524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858466" h="524160">
                <a:moveTo>
                  <a:pt x="0" y="87362"/>
                </a:moveTo>
                <a:cubicBezTo>
                  <a:pt x="0" y="39113"/>
                  <a:pt x="39113" y="0"/>
                  <a:pt x="87362" y="0"/>
                </a:cubicBezTo>
                <a:lnTo>
                  <a:pt x="5771104" y="0"/>
                </a:lnTo>
                <a:cubicBezTo>
                  <a:pt x="5819353" y="0"/>
                  <a:pt x="5858466" y="39113"/>
                  <a:pt x="5858466" y="87362"/>
                </a:cubicBezTo>
                <a:lnTo>
                  <a:pt x="5858466" y="436798"/>
                </a:lnTo>
                <a:cubicBezTo>
                  <a:pt x="5858466" y="485047"/>
                  <a:pt x="5819353" y="524160"/>
                  <a:pt x="5771104" y="524160"/>
                </a:cubicBezTo>
                <a:lnTo>
                  <a:pt x="87362" y="524160"/>
                </a:lnTo>
                <a:cubicBezTo>
                  <a:pt x="39113" y="524160"/>
                  <a:pt x="0" y="485047"/>
                  <a:pt x="0" y="436798"/>
                </a:cubicBezTo>
                <a:lnTo>
                  <a:pt x="0" y="8736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4167" tIns="94167" rIns="94167" bIns="94167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800" kern="1200" dirty="0"/>
              <a:t>Reweighted-data IRLS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EDC585-123A-916D-32DB-AAE2ADDBD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85" y="2032000"/>
            <a:ext cx="7085339" cy="443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996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F6E400-D2BF-E6E1-5FBE-485267A91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644" y="1574800"/>
            <a:ext cx="8748711" cy="481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432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1099</TotalTime>
  <Words>122</Words>
  <Application>Microsoft Office PowerPoint</Application>
  <PresentationFormat>Widescreen</PresentationFormat>
  <Paragraphs>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3D Gravity Inversion of a Synthetic Geological Model in SimPEG</vt:lpstr>
      <vt:lpstr>Setup / Motivation</vt:lpstr>
      <vt:lpstr>Physical properties</vt:lpstr>
      <vt:lpstr>Survey + data</vt:lpstr>
      <vt:lpstr>Inversion</vt:lpstr>
      <vt:lpstr>PowerPoint Presentation</vt:lpstr>
      <vt:lpstr>Inversion</vt:lpstr>
      <vt:lpstr>Inversion</vt:lpstr>
      <vt:lpstr>Inversion</vt:lpstr>
      <vt:lpstr>Inversion</vt:lpstr>
      <vt:lpstr>PowerPoint Presentation</vt:lpstr>
      <vt:lpstr>Inversion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Liam Wu</dc:creator>
  <cp:lastModifiedBy>Liam Wu</cp:lastModifiedBy>
  <cp:revision>7</cp:revision>
  <dcterms:created xsi:type="dcterms:W3CDTF">2026-03-29T04:32:59Z</dcterms:created>
  <dcterms:modified xsi:type="dcterms:W3CDTF">2026-03-31T16:31:50Z</dcterms:modified>
</cp:coreProperties>
</file>